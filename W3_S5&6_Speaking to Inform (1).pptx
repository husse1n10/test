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4"/>
  </p:notesMasterIdLst>
  <p:sldIdLst>
    <p:sldId id="270" r:id="rId5"/>
    <p:sldId id="287" r:id="rId6"/>
    <p:sldId id="285" r:id="rId7"/>
    <p:sldId id="271" r:id="rId8"/>
    <p:sldId id="274" r:id="rId9"/>
    <p:sldId id="273" r:id="rId10"/>
    <p:sldId id="272" r:id="rId11"/>
    <p:sldId id="275" r:id="rId12"/>
    <p:sldId id="300" r:id="rId13"/>
    <p:sldId id="298" r:id="rId14"/>
    <p:sldId id="281" r:id="rId15"/>
    <p:sldId id="283" r:id="rId16"/>
    <p:sldId id="284" r:id="rId17"/>
    <p:sldId id="303" r:id="rId18"/>
    <p:sldId id="301" r:id="rId19"/>
    <p:sldId id="302" r:id="rId20"/>
    <p:sldId id="282" r:id="rId21"/>
    <p:sldId id="299" r:id="rId22"/>
    <p:sldId id="305" r:id="rId23"/>
    <p:sldId id="289" r:id="rId24"/>
    <p:sldId id="263" r:id="rId25"/>
    <p:sldId id="264" r:id="rId26"/>
    <p:sldId id="290" r:id="rId27"/>
    <p:sldId id="304" r:id="rId28"/>
    <p:sldId id="292" r:id="rId29"/>
    <p:sldId id="293" r:id="rId30"/>
    <p:sldId id="296" r:id="rId31"/>
    <p:sldId id="297"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10C7C-5A38-481D-BBF6-EB566E3561F0}"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F8A2A-3ECB-428C-AEEB-C62979F49A50}" type="slidenum">
              <a:rPr lang="en-US" smtClean="0"/>
              <a:t>‹#›</a:t>
            </a:fld>
            <a:endParaRPr lang="en-US"/>
          </a:p>
        </p:txBody>
      </p:sp>
    </p:spTree>
    <p:extLst>
      <p:ext uri="{BB962C8B-B14F-4D97-AF65-F5344CB8AC3E}">
        <p14:creationId xmlns:p14="http://schemas.microsoft.com/office/powerpoint/2010/main" val="294557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9F8A2A-3ECB-428C-AEEB-C62979F49A50}" type="slidenum">
              <a:rPr lang="en-US" smtClean="0"/>
              <a:t>2</a:t>
            </a:fld>
            <a:endParaRPr lang="en-US"/>
          </a:p>
        </p:txBody>
      </p:sp>
    </p:spTree>
    <p:extLst>
      <p:ext uri="{BB962C8B-B14F-4D97-AF65-F5344CB8AC3E}">
        <p14:creationId xmlns:p14="http://schemas.microsoft.com/office/powerpoint/2010/main" val="7187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9F8A2A-3ECB-428C-AEEB-C62979F49A50}" type="slidenum">
              <a:rPr lang="en-US" smtClean="0"/>
              <a:t>5</a:t>
            </a:fld>
            <a:endParaRPr lang="en-US"/>
          </a:p>
        </p:txBody>
      </p:sp>
    </p:spTree>
    <p:extLst>
      <p:ext uri="{BB962C8B-B14F-4D97-AF65-F5344CB8AC3E}">
        <p14:creationId xmlns:p14="http://schemas.microsoft.com/office/powerpoint/2010/main" val="289878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BC174E-BD46-485E-AA1A-0DE0EA11DB0E}" type="slidenum">
              <a:rPr lang="en-US" smtClean="0"/>
              <a:t>22</a:t>
            </a:fld>
            <a:endParaRPr lang="en-US"/>
          </a:p>
        </p:txBody>
      </p:sp>
    </p:spTree>
    <p:extLst>
      <p:ext uri="{BB962C8B-B14F-4D97-AF65-F5344CB8AC3E}">
        <p14:creationId xmlns:p14="http://schemas.microsoft.com/office/powerpoint/2010/main" val="1188704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136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67571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8B6A09-B37B-4280-A81E-A0A647834A62}"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218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8B6A09-B37B-4280-A81E-A0A647834A62}"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224886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8B6A09-B37B-4280-A81E-A0A647834A62}" type="datetimeFigureOut">
              <a:rPr lang="en-US" smtClean="0"/>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52406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8B6A09-B37B-4280-A81E-A0A647834A62}" type="datetimeFigureOut">
              <a:rPr lang="en-US" smtClean="0"/>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83522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598B6A09-B37B-4280-A81E-A0A647834A62}" type="datetimeFigureOut">
              <a:rPr lang="en-US" smtClean="0"/>
              <a:t>2/13/2026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801253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98B6A09-B37B-4280-A81E-A0A647834A62}" type="datetimeFigureOut">
              <a:rPr lang="en-US" smtClean="0"/>
              <a:t>2/13/2026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2277B-B7A1-4254-892E-784CEF5C284F}" type="slidenum">
              <a:rPr lang="en-US" smtClean="0"/>
              <a:t>‹#›</a:t>
            </a:fld>
            <a:endParaRPr lang="en-US"/>
          </a:p>
        </p:txBody>
      </p:sp>
    </p:spTree>
    <p:extLst>
      <p:ext uri="{BB962C8B-B14F-4D97-AF65-F5344CB8AC3E}">
        <p14:creationId xmlns:p14="http://schemas.microsoft.com/office/powerpoint/2010/main" val="285646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8B6A09-B37B-4280-A81E-A0A647834A62}"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1628153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357652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275535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98B6A09-B37B-4280-A81E-A0A647834A62}" type="datetimeFigureOut">
              <a:rPr lang="en-US" smtClean="0"/>
              <a:t>2/13/2026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B2277B-B7A1-4254-892E-784CEF5C284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2348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ornerstone.lib.mnsu.edu/afa-niet-recordings/2018/informative-speaking/4/" TargetMode="External"/><Relationship Id="rId2" Type="http://schemas.openxmlformats.org/officeDocument/2006/relationships/hyperlink" Target="https://www.youtube.com/watch?v=StPSgqwCnVk&amp;t=34s" TargetMode="External"/><Relationship Id="rId1" Type="http://schemas.openxmlformats.org/officeDocument/2006/relationships/slideLayout" Target="../slideLayouts/slideLayout2.xml"/><Relationship Id="rId4" Type="http://schemas.openxmlformats.org/officeDocument/2006/relationships/hyperlink" Target="https://www.youtube.com/watch?v=dxd9xGH09l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95D6-132D-9D28-67BE-4350AC77D55F}"/>
              </a:ext>
            </a:extLst>
          </p:cNvPr>
          <p:cNvSpPr>
            <a:spLocks noGrp="1"/>
          </p:cNvSpPr>
          <p:nvPr>
            <p:ph type="ctrTitle"/>
          </p:nvPr>
        </p:nvSpPr>
        <p:spPr>
          <a:xfrm>
            <a:off x="1097280" y="758952"/>
            <a:ext cx="11203388" cy="3566160"/>
          </a:xfrm>
        </p:spPr>
        <p:txBody>
          <a:bodyPr>
            <a:normAutofit fontScale="90000"/>
          </a:bodyPr>
          <a:lstStyle/>
          <a:p>
            <a:br>
              <a:rPr lang="en-US" dirty="0"/>
            </a:br>
            <a:br>
              <a:rPr lang="en-US" dirty="0"/>
            </a:br>
            <a:br>
              <a:rPr lang="en-US" dirty="0"/>
            </a:br>
            <a:r>
              <a:rPr lang="en-US" dirty="0"/>
              <a:t>Communication Skills for Engineers (COMM 402-EC10)</a:t>
            </a:r>
            <a:br>
              <a:rPr lang="en-US" dirty="0"/>
            </a:br>
            <a:br>
              <a:rPr lang="en-US" dirty="0"/>
            </a:br>
            <a:r>
              <a:rPr lang="en-US" dirty="0"/>
              <a:t>Week 3 – Sessions 5&amp;6</a:t>
            </a:r>
          </a:p>
        </p:txBody>
      </p:sp>
      <p:sp>
        <p:nvSpPr>
          <p:cNvPr id="3" name="Subtitle 2">
            <a:extLst>
              <a:ext uri="{FF2B5EF4-FFF2-40B4-BE49-F238E27FC236}">
                <a16:creationId xmlns:a16="http://schemas.microsoft.com/office/drawing/2014/main" id="{8A24731D-56A4-66D7-2072-34B985288C67}"/>
              </a:ext>
            </a:extLst>
          </p:cNvPr>
          <p:cNvSpPr>
            <a:spLocks noGrp="1"/>
          </p:cNvSpPr>
          <p:nvPr>
            <p:ph type="subTitle" idx="1"/>
          </p:nvPr>
        </p:nvSpPr>
        <p:spPr/>
        <p:txBody>
          <a:bodyPr/>
          <a:lstStyle/>
          <a:p>
            <a:r>
              <a:rPr lang="en-US" dirty="0"/>
              <a:t>Prepared by Stefany Salemeh</a:t>
            </a:r>
          </a:p>
        </p:txBody>
      </p:sp>
    </p:spTree>
    <p:extLst>
      <p:ext uri="{BB962C8B-B14F-4D97-AF65-F5344CB8AC3E}">
        <p14:creationId xmlns:p14="http://schemas.microsoft.com/office/powerpoint/2010/main" val="2631469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F3C6-5E2D-E824-7712-A508FEEE986C}"/>
              </a:ext>
            </a:extLst>
          </p:cNvPr>
          <p:cNvSpPr>
            <a:spLocks noGrp="1"/>
          </p:cNvSpPr>
          <p:nvPr>
            <p:ph type="title"/>
          </p:nvPr>
        </p:nvSpPr>
        <p:spPr>
          <a:xfrm>
            <a:off x="7830093" y="227622"/>
            <a:ext cx="3690257" cy="1450757"/>
          </a:xfrm>
        </p:spPr>
        <p:txBody>
          <a:bodyPr>
            <a:normAutofit/>
          </a:bodyPr>
          <a:lstStyle/>
          <a:p>
            <a:r>
              <a:rPr lang="en-US" sz="4100" dirty="0"/>
              <a:t>General Purpose of a Speech</a:t>
            </a:r>
          </a:p>
        </p:txBody>
      </p:sp>
      <p:sp>
        <p:nvSpPr>
          <p:cNvPr id="3" name="Content Placeholder 2">
            <a:extLst>
              <a:ext uri="{FF2B5EF4-FFF2-40B4-BE49-F238E27FC236}">
                <a16:creationId xmlns:a16="http://schemas.microsoft.com/office/drawing/2014/main" id="{F756C947-8E13-4FF6-E7F4-02A8E6FAA37D}"/>
              </a:ext>
            </a:extLst>
          </p:cNvPr>
          <p:cNvSpPr>
            <a:spLocks noGrp="1"/>
          </p:cNvSpPr>
          <p:nvPr>
            <p:ph idx="1"/>
          </p:nvPr>
        </p:nvSpPr>
        <p:spPr>
          <a:xfrm>
            <a:off x="7830094" y="2630894"/>
            <a:ext cx="3690257" cy="3670180"/>
          </a:xfrm>
        </p:spPr>
        <p:txBody>
          <a:bodyPr>
            <a:normAutofit/>
          </a:bodyPr>
          <a:lstStyle/>
          <a:p>
            <a:pPr marL="742950" indent="-742950">
              <a:buFont typeface="+mj-lt"/>
              <a:buAutoNum type="arabicPeriod"/>
            </a:pPr>
            <a:r>
              <a:rPr lang="en-US" sz="3200" dirty="0"/>
              <a:t>To inform</a:t>
            </a:r>
          </a:p>
          <a:p>
            <a:pPr marL="742950" indent="-742950">
              <a:buFont typeface="+mj-lt"/>
              <a:buAutoNum type="arabicPeriod"/>
            </a:pPr>
            <a:r>
              <a:rPr lang="en-US" sz="3200" dirty="0"/>
              <a:t>To persuade</a:t>
            </a:r>
          </a:p>
          <a:p>
            <a:pPr marL="742950" indent="-742950">
              <a:buFont typeface="+mj-lt"/>
              <a:buAutoNum type="arabicPeriod"/>
            </a:pPr>
            <a:r>
              <a:rPr lang="en-US" sz="3200" dirty="0"/>
              <a:t>To entertain </a:t>
            </a:r>
          </a:p>
        </p:txBody>
      </p:sp>
      <p:pic>
        <p:nvPicPr>
          <p:cNvPr id="5" name="Picture 4" descr="A person standing at a podium with a microphone&#10;&#10;AI-generated content may be incorrect.">
            <a:extLst>
              <a:ext uri="{FF2B5EF4-FFF2-40B4-BE49-F238E27FC236}">
                <a16:creationId xmlns:a16="http://schemas.microsoft.com/office/drawing/2014/main" id="{DE7F03C0-9669-0D24-030D-4136CE57BE9C}"/>
              </a:ext>
            </a:extLst>
          </p:cNvPr>
          <p:cNvPicPr>
            <a:picLocks noChangeAspect="1"/>
          </p:cNvPicPr>
          <p:nvPr/>
        </p:nvPicPr>
        <p:blipFill>
          <a:blip r:embed="rId3">
            <a:extLst>
              <a:ext uri="{28A0092B-C50C-407E-A947-70E740481C1C}">
                <a14:useLocalDpi xmlns:a14="http://schemas.microsoft.com/office/drawing/2010/main" val="0"/>
              </a:ext>
            </a:extLst>
          </a:blip>
          <a:srcRect l="13407" r="13458" b="2"/>
          <a:stretch/>
        </p:blipFill>
        <p:spPr>
          <a:xfrm>
            <a:off x="633999" y="640081"/>
            <a:ext cx="6909801" cy="5314406"/>
          </a:xfrm>
          <a:prstGeom prst="rect">
            <a:avLst/>
          </a:prstGeom>
        </p:spPr>
      </p:pic>
    </p:spTree>
    <p:extLst>
      <p:ext uri="{BB962C8B-B14F-4D97-AF65-F5344CB8AC3E}">
        <p14:creationId xmlns:p14="http://schemas.microsoft.com/office/powerpoint/2010/main" val="27215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22B8767A-F6E6-8A70-E276-5FEB0415152A}"/>
              </a:ext>
            </a:extLst>
          </p:cNvPr>
          <p:cNvSpPr txBox="1">
            <a:spLocks/>
          </p:cNvSpPr>
          <p:nvPr/>
        </p:nvSpPr>
        <p:spPr>
          <a:xfrm>
            <a:off x="670559" y="1075712"/>
            <a:ext cx="11266517" cy="470657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The informative speech will be your midterm. </a:t>
            </a:r>
          </a:p>
          <a:p>
            <a:endParaRPr lang="en-US" dirty="0"/>
          </a:p>
          <a:p>
            <a:r>
              <a:rPr lang="en-US" dirty="0"/>
              <a:t>   You will be presenting in pairs (6-8 mins).</a:t>
            </a:r>
          </a:p>
          <a:p>
            <a:endParaRPr lang="en-US" dirty="0"/>
          </a:p>
          <a:p>
            <a:endParaRPr lang="en-US" dirty="0"/>
          </a:p>
        </p:txBody>
      </p:sp>
    </p:spTree>
    <p:extLst>
      <p:ext uri="{BB962C8B-B14F-4D97-AF65-F5344CB8AC3E}">
        <p14:creationId xmlns:p14="http://schemas.microsoft.com/office/powerpoint/2010/main" val="2294718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7DE1E-AC46-A25C-472C-E5F375AE6265}"/>
              </a:ext>
            </a:extLst>
          </p:cNvPr>
          <p:cNvSpPr>
            <a:spLocks noGrp="1"/>
          </p:cNvSpPr>
          <p:nvPr>
            <p:ph type="title"/>
          </p:nvPr>
        </p:nvSpPr>
        <p:spPr/>
        <p:txBody>
          <a:bodyPr/>
          <a:lstStyle/>
          <a:p>
            <a:r>
              <a:rPr lang="en-US" dirty="0"/>
              <a:t>Informative Speech</a:t>
            </a:r>
          </a:p>
        </p:txBody>
      </p:sp>
      <p:sp>
        <p:nvSpPr>
          <p:cNvPr id="3" name="Content Placeholder 2">
            <a:extLst>
              <a:ext uri="{FF2B5EF4-FFF2-40B4-BE49-F238E27FC236}">
                <a16:creationId xmlns:a16="http://schemas.microsoft.com/office/drawing/2014/main" id="{B6ADDA39-A2CE-6952-306E-BCEA164E7D40}"/>
              </a:ext>
            </a:extLst>
          </p:cNvPr>
          <p:cNvSpPr>
            <a:spLocks noGrp="1"/>
          </p:cNvSpPr>
          <p:nvPr>
            <p:ph idx="1"/>
          </p:nvPr>
        </p:nvSpPr>
        <p:spPr/>
        <p:txBody>
          <a:bodyPr>
            <a:normAutofit/>
          </a:bodyPr>
          <a:lstStyle/>
          <a:p>
            <a:pPr algn="l"/>
            <a:r>
              <a:rPr lang="en-US" sz="2400" b="0" i="0" u="none" strike="noStrike" baseline="0" dirty="0">
                <a:solidFill>
                  <a:schemeClr val="tx1"/>
                </a:solidFill>
              </a:rPr>
              <a:t>One of your first classroom assignments probably will be to deliver an informative speech in which you will act as a lecturer or teacher. You may describe an object, show how something works, report on an event, explain a concept. Your aim will be to convey knowledge and understanding— not to advocate a cause. </a:t>
            </a:r>
          </a:p>
          <a:p>
            <a:pPr algn="l"/>
            <a:r>
              <a:rPr lang="en-US" sz="2400" b="0" i="0" u="none" strike="noStrike" baseline="0" dirty="0">
                <a:solidFill>
                  <a:schemeClr val="tx1"/>
                </a:solidFill>
              </a:rPr>
              <a:t>Your speech will be judged in light of three general criteria:</a:t>
            </a:r>
          </a:p>
          <a:p>
            <a:pPr marL="342900" indent="-342900" algn="l">
              <a:buFont typeface="+mj-lt"/>
              <a:buAutoNum type="arabicPeriod"/>
            </a:pPr>
            <a:r>
              <a:rPr lang="en-US" sz="2400" b="0" i="0" u="none" strike="noStrike" baseline="0" dirty="0">
                <a:solidFill>
                  <a:schemeClr val="tx1"/>
                </a:solidFill>
              </a:rPr>
              <a:t>Is the information communicated accurately?</a:t>
            </a:r>
          </a:p>
          <a:p>
            <a:pPr marL="342900" indent="-342900" algn="l">
              <a:buFont typeface="+mj-lt"/>
              <a:buAutoNum type="arabicPeriod"/>
            </a:pPr>
            <a:r>
              <a:rPr lang="en-US" sz="2400" b="0" i="0" u="none" strike="noStrike" baseline="0" dirty="0">
                <a:solidFill>
                  <a:schemeClr val="tx1"/>
                </a:solidFill>
              </a:rPr>
              <a:t>Is the information communicated clearly?</a:t>
            </a:r>
          </a:p>
          <a:p>
            <a:pPr marL="342900" indent="-342900" algn="l">
              <a:buFont typeface="+mj-lt"/>
              <a:buAutoNum type="arabicPeriod"/>
            </a:pPr>
            <a:r>
              <a:rPr lang="en-US" sz="2400" b="0" i="0" u="none" strike="noStrike" baseline="0" dirty="0">
                <a:solidFill>
                  <a:schemeClr val="tx1"/>
                </a:solidFill>
              </a:rPr>
              <a:t>Is the information made meaningful and interesting to the audience?</a:t>
            </a:r>
            <a:endParaRPr lang="en-US" sz="2400" dirty="0">
              <a:solidFill>
                <a:schemeClr val="tx1"/>
              </a:solidFill>
            </a:endParaRPr>
          </a:p>
        </p:txBody>
      </p:sp>
    </p:spTree>
    <p:extLst>
      <p:ext uri="{BB962C8B-B14F-4D97-AF65-F5344CB8AC3E}">
        <p14:creationId xmlns:p14="http://schemas.microsoft.com/office/powerpoint/2010/main" val="84339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5FB4-5C46-CF68-FAF0-D0E7B98C275D}"/>
              </a:ext>
            </a:extLst>
          </p:cNvPr>
          <p:cNvSpPr>
            <a:spLocks noGrp="1"/>
          </p:cNvSpPr>
          <p:nvPr>
            <p:ph type="title"/>
          </p:nvPr>
        </p:nvSpPr>
        <p:spPr/>
        <p:txBody>
          <a:bodyPr>
            <a:normAutofit fontScale="90000"/>
          </a:bodyPr>
          <a:lstStyle/>
          <a:p>
            <a:r>
              <a:rPr lang="en-US" sz="3400" b="1" dirty="0"/>
              <a:t>Types of Informative Speeches</a:t>
            </a:r>
            <a:br>
              <a:rPr lang="en-US" sz="3400" dirty="0"/>
            </a:br>
            <a:br>
              <a:rPr lang="en-US" sz="3400" dirty="0"/>
            </a:br>
            <a:r>
              <a:rPr lang="en-US" dirty="0" err="1"/>
              <a:t>Speeches</a:t>
            </a:r>
            <a:r>
              <a:rPr lang="en-US" dirty="0"/>
              <a:t> about Objects</a:t>
            </a:r>
          </a:p>
        </p:txBody>
      </p:sp>
      <p:sp>
        <p:nvSpPr>
          <p:cNvPr id="3" name="Content Placeholder 2">
            <a:extLst>
              <a:ext uri="{FF2B5EF4-FFF2-40B4-BE49-F238E27FC236}">
                <a16:creationId xmlns:a16="http://schemas.microsoft.com/office/drawing/2014/main" id="{0ED716F3-A41A-AD94-57A4-065F1B7A130C}"/>
              </a:ext>
            </a:extLst>
          </p:cNvPr>
          <p:cNvSpPr>
            <a:spLocks noGrp="1"/>
          </p:cNvSpPr>
          <p:nvPr>
            <p:ph idx="1"/>
          </p:nvPr>
        </p:nvSpPr>
        <p:spPr>
          <a:xfrm>
            <a:off x="1097279" y="1845734"/>
            <a:ext cx="6454987" cy="4023360"/>
          </a:xfrm>
        </p:spPr>
        <p:txBody>
          <a:bodyPr>
            <a:normAutofit/>
          </a:bodyPr>
          <a:lstStyle/>
          <a:p>
            <a:r>
              <a:rPr lang="en-US" sz="2400" dirty="0">
                <a:solidFill>
                  <a:schemeClr val="tx1"/>
                </a:solidFill>
              </a:rPr>
              <a:t>As the word is used here, “objects” include anything that is visible, tangible, and stable in form. Objects may have moving parts or be alive; they may include places, structures, animals, even people. Here are examples of subjects for speeches about objects:</a:t>
            </a:r>
          </a:p>
          <a:p>
            <a:r>
              <a:rPr lang="en-US" sz="2400" dirty="0">
                <a:solidFill>
                  <a:schemeClr val="tx1"/>
                </a:solidFill>
              </a:rPr>
              <a:t>Legos (</a:t>
            </a:r>
            <a:r>
              <a:rPr lang="en-US" sz="2400" b="0" i="0" u="none" strike="noStrike" baseline="0" dirty="0">
                <a:solidFill>
                  <a:schemeClr val="tx1"/>
                </a:solidFill>
              </a:rPr>
              <a:t>To inform my audience about the worldwide fascination with Legos.)</a:t>
            </a:r>
            <a:endParaRPr lang="en-US" sz="2400" dirty="0">
              <a:solidFill>
                <a:schemeClr val="tx1"/>
              </a:solidFill>
            </a:endParaRPr>
          </a:p>
          <a:p>
            <a:r>
              <a:rPr lang="en-US" sz="2400" dirty="0">
                <a:solidFill>
                  <a:schemeClr val="tx1"/>
                </a:solidFill>
              </a:rPr>
              <a:t>Service dogs (</a:t>
            </a:r>
            <a:r>
              <a:rPr lang="en-US" sz="2400" b="0" i="0" u="none" strike="noStrike" baseline="0" dirty="0">
                <a:solidFill>
                  <a:schemeClr val="tx1"/>
                </a:solidFill>
              </a:rPr>
              <a:t>To inform my audience about three major kinds of service dogs.)</a:t>
            </a:r>
            <a:endParaRPr lang="en-US" sz="2400" dirty="0">
              <a:solidFill>
                <a:schemeClr val="tx1"/>
              </a:solidFill>
            </a:endParaRPr>
          </a:p>
          <a:p>
            <a:endParaRPr lang="en-US" dirty="0"/>
          </a:p>
        </p:txBody>
      </p:sp>
      <p:pic>
        <p:nvPicPr>
          <p:cNvPr id="5" name="Picture 4" descr="A close-up of a green box&#10;&#10;AI-generated content may be incorrect.">
            <a:extLst>
              <a:ext uri="{FF2B5EF4-FFF2-40B4-BE49-F238E27FC236}">
                <a16:creationId xmlns:a16="http://schemas.microsoft.com/office/drawing/2014/main" id="{09203B51-0585-E00D-EBC9-2A106B1B07E7}"/>
              </a:ext>
            </a:extLst>
          </p:cNvPr>
          <p:cNvPicPr>
            <a:picLocks noChangeAspect="1"/>
          </p:cNvPicPr>
          <p:nvPr/>
        </p:nvPicPr>
        <p:blipFill>
          <a:blip r:embed="rId3"/>
          <a:stretch>
            <a:fillRect/>
          </a:stretch>
        </p:blipFill>
        <p:spPr>
          <a:xfrm>
            <a:off x="8020570" y="2900257"/>
            <a:ext cx="3135109" cy="1503134"/>
          </a:xfrm>
          <a:prstGeom prst="rect">
            <a:avLst/>
          </a:prstGeom>
        </p:spPr>
      </p:pic>
    </p:spTree>
    <p:extLst>
      <p:ext uri="{BB962C8B-B14F-4D97-AF65-F5344CB8AC3E}">
        <p14:creationId xmlns:p14="http://schemas.microsoft.com/office/powerpoint/2010/main" val="387771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3894-CF80-F1CC-AB84-4E7CBC687AEC}"/>
              </a:ext>
            </a:extLst>
          </p:cNvPr>
          <p:cNvSpPr>
            <a:spLocks noGrp="1"/>
          </p:cNvSpPr>
          <p:nvPr>
            <p:ph type="title"/>
          </p:nvPr>
        </p:nvSpPr>
        <p:spPr/>
        <p:txBody>
          <a:bodyPr/>
          <a:lstStyle/>
          <a:p>
            <a:r>
              <a:rPr lang="en-US" dirty="0"/>
              <a:t>Speeches about Processes</a:t>
            </a:r>
          </a:p>
        </p:txBody>
      </p:sp>
      <p:sp>
        <p:nvSpPr>
          <p:cNvPr id="3" name="Content Placeholder 2">
            <a:extLst>
              <a:ext uri="{FF2B5EF4-FFF2-40B4-BE49-F238E27FC236}">
                <a16:creationId xmlns:a16="http://schemas.microsoft.com/office/drawing/2014/main" id="{CBB4E7F4-8665-957E-E11C-B5FDD4588006}"/>
              </a:ext>
            </a:extLst>
          </p:cNvPr>
          <p:cNvSpPr>
            <a:spLocks noGrp="1"/>
          </p:cNvSpPr>
          <p:nvPr>
            <p:ph idx="1"/>
          </p:nvPr>
        </p:nvSpPr>
        <p:spPr>
          <a:xfrm>
            <a:off x="1097280" y="1845734"/>
            <a:ext cx="6774301" cy="4245428"/>
          </a:xfrm>
        </p:spPr>
        <p:txBody>
          <a:bodyPr>
            <a:normAutofit/>
          </a:bodyPr>
          <a:lstStyle/>
          <a:p>
            <a:r>
              <a:rPr lang="en-US" sz="2400" dirty="0">
                <a:solidFill>
                  <a:schemeClr val="tx1"/>
                </a:solidFill>
              </a:rPr>
              <a:t>A process is a systematic series of actions that leads to a specific result or product. Speeches about processes explain how something is made, how something is done, or how something works. Here are examples of good specific purpose statements for speeches about processes:</a:t>
            </a:r>
          </a:p>
          <a:p>
            <a:r>
              <a:rPr lang="en-US" sz="2400" dirty="0">
                <a:solidFill>
                  <a:schemeClr val="tx1"/>
                </a:solidFill>
              </a:rPr>
              <a:t>Floods (To inform my audience how flash floods develop.)</a:t>
            </a:r>
          </a:p>
          <a:p>
            <a:r>
              <a:rPr lang="en-US" sz="2400" dirty="0">
                <a:solidFill>
                  <a:schemeClr val="tx1"/>
                </a:solidFill>
              </a:rPr>
              <a:t>CV (To inform my audience how to write an effective job resumé.)</a:t>
            </a:r>
          </a:p>
        </p:txBody>
      </p:sp>
      <p:pic>
        <p:nvPicPr>
          <p:cNvPr id="7" name="Picture 6">
            <a:extLst>
              <a:ext uri="{FF2B5EF4-FFF2-40B4-BE49-F238E27FC236}">
                <a16:creationId xmlns:a16="http://schemas.microsoft.com/office/drawing/2014/main" id="{5BFBCBFB-E440-4FC6-71DF-74150F189C65}"/>
              </a:ext>
            </a:extLst>
          </p:cNvPr>
          <p:cNvPicPr>
            <a:picLocks noChangeAspect="1"/>
          </p:cNvPicPr>
          <p:nvPr/>
        </p:nvPicPr>
        <p:blipFill>
          <a:blip r:embed="rId2"/>
          <a:stretch>
            <a:fillRect/>
          </a:stretch>
        </p:blipFill>
        <p:spPr>
          <a:xfrm>
            <a:off x="8788878" y="3059429"/>
            <a:ext cx="3093483" cy="1818038"/>
          </a:xfrm>
          <a:prstGeom prst="rect">
            <a:avLst/>
          </a:prstGeom>
        </p:spPr>
      </p:pic>
    </p:spTree>
    <p:extLst>
      <p:ext uri="{BB962C8B-B14F-4D97-AF65-F5344CB8AC3E}">
        <p14:creationId xmlns:p14="http://schemas.microsoft.com/office/powerpoint/2010/main" val="2997092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7690-FB47-19F4-B593-34F51046D57D}"/>
              </a:ext>
            </a:extLst>
          </p:cNvPr>
          <p:cNvSpPr>
            <a:spLocks noGrp="1"/>
          </p:cNvSpPr>
          <p:nvPr>
            <p:ph type="title"/>
          </p:nvPr>
        </p:nvSpPr>
        <p:spPr/>
        <p:txBody>
          <a:bodyPr/>
          <a:lstStyle/>
          <a:p>
            <a:r>
              <a:rPr lang="en-US" dirty="0"/>
              <a:t>Speeches about Events</a:t>
            </a:r>
          </a:p>
        </p:txBody>
      </p:sp>
      <p:sp>
        <p:nvSpPr>
          <p:cNvPr id="3" name="Content Placeholder 2">
            <a:extLst>
              <a:ext uri="{FF2B5EF4-FFF2-40B4-BE49-F238E27FC236}">
                <a16:creationId xmlns:a16="http://schemas.microsoft.com/office/drawing/2014/main" id="{F9F5CDFA-EF08-C0FE-1491-B30FC3290B5D}"/>
              </a:ext>
            </a:extLst>
          </p:cNvPr>
          <p:cNvSpPr>
            <a:spLocks noGrp="1"/>
          </p:cNvSpPr>
          <p:nvPr>
            <p:ph idx="1"/>
          </p:nvPr>
        </p:nvSpPr>
        <p:spPr>
          <a:xfrm>
            <a:off x="1097280" y="1845733"/>
            <a:ext cx="7200053" cy="4313161"/>
          </a:xfrm>
        </p:spPr>
        <p:txBody>
          <a:bodyPr>
            <a:normAutofit/>
          </a:bodyPr>
          <a:lstStyle/>
          <a:p>
            <a:pPr algn="l"/>
            <a:r>
              <a:rPr lang="en-US" sz="2400" b="0" i="0" u="none" strike="noStrike" baseline="0" dirty="0"/>
              <a:t>The </a:t>
            </a:r>
            <a:r>
              <a:rPr lang="en-US" sz="2400" b="0" i="1" u="none" strike="noStrike" baseline="0" dirty="0"/>
              <a:t>Random House Dictionary </a:t>
            </a:r>
            <a:r>
              <a:rPr lang="en-US" sz="2400" b="0" i="0" u="none" strike="noStrike" baseline="0" dirty="0"/>
              <a:t>defines an event as “anything that happens or is regarded as happening.” By this definition, the following are examples of suitable topics for informative speeches about events:</a:t>
            </a:r>
          </a:p>
          <a:p>
            <a:pPr algn="l"/>
            <a:r>
              <a:rPr lang="en-US" sz="2400" b="0" i="0" u="none" strike="noStrike" baseline="0" dirty="0"/>
              <a:t>Paralympics (To inform my audience about the history of the Paralympics.)</a:t>
            </a:r>
          </a:p>
          <a:p>
            <a:pPr algn="l"/>
            <a:r>
              <a:rPr lang="en-US" sz="2400" b="0" i="0" u="none" strike="noStrike" baseline="0" dirty="0"/>
              <a:t>Mardi Gras (To inform my audience about three aspects of the Mardi Gras celebration in New Orleans.)</a:t>
            </a:r>
            <a:endParaRPr lang="en-US" sz="2400" dirty="0"/>
          </a:p>
        </p:txBody>
      </p:sp>
      <p:pic>
        <p:nvPicPr>
          <p:cNvPr id="5" name="Picture 4">
            <a:extLst>
              <a:ext uri="{FF2B5EF4-FFF2-40B4-BE49-F238E27FC236}">
                <a16:creationId xmlns:a16="http://schemas.microsoft.com/office/drawing/2014/main" id="{B7E191A3-C0D2-2C4A-A78A-4701A9D0363D}"/>
              </a:ext>
            </a:extLst>
          </p:cNvPr>
          <p:cNvPicPr>
            <a:picLocks noChangeAspect="1"/>
          </p:cNvPicPr>
          <p:nvPr/>
        </p:nvPicPr>
        <p:blipFill>
          <a:blip r:embed="rId2"/>
          <a:stretch>
            <a:fillRect/>
          </a:stretch>
        </p:blipFill>
        <p:spPr>
          <a:xfrm>
            <a:off x="8880698" y="2675189"/>
            <a:ext cx="3151647" cy="1507621"/>
          </a:xfrm>
          <a:prstGeom prst="rect">
            <a:avLst/>
          </a:prstGeom>
        </p:spPr>
      </p:pic>
    </p:spTree>
    <p:extLst>
      <p:ext uri="{BB962C8B-B14F-4D97-AF65-F5344CB8AC3E}">
        <p14:creationId xmlns:p14="http://schemas.microsoft.com/office/powerpoint/2010/main" val="1024710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60DB-9832-085B-4F78-4DE713E69721}"/>
              </a:ext>
            </a:extLst>
          </p:cNvPr>
          <p:cNvSpPr>
            <a:spLocks noGrp="1"/>
          </p:cNvSpPr>
          <p:nvPr>
            <p:ph type="title"/>
          </p:nvPr>
        </p:nvSpPr>
        <p:spPr/>
        <p:txBody>
          <a:bodyPr/>
          <a:lstStyle/>
          <a:p>
            <a:r>
              <a:rPr lang="en-US" dirty="0"/>
              <a:t>Speeches about Concepts</a:t>
            </a:r>
          </a:p>
        </p:txBody>
      </p:sp>
      <p:sp>
        <p:nvSpPr>
          <p:cNvPr id="3" name="Content Placeholder 2">
            <a:extLst>
              <a:ext uri="{FF2B5EF4-FFF2-40B4-BE49-F238E27FC236}">
                <a16:creationId xmlns:a16="http://schemas.microsoft.com/office/drawing/2014/main" id="{55F24429-7FFE-3670-5725-05BD6DE2C3BC}"/>
              </a:ext>
            </a:extLst>
          </p:cNvPr>
          <p:cNvSpPr>
            <a:spLocks noGrp="1"/>
          </p:cNvSpPr>
          <p:nvPr>
            <p:ph idx="1"/>
          </p:nvPr>
        </p:nvSpPr>
        <p:spPr>
          <a:xfrm>
            <a:off x="1097280" y="1845734"/>
            <a:ext cx="7282301" cy="4347028"/>
          </a:xfrm>
        </p:spPr>
        <p:txBody>
          <a:bodyPr>
            <a:normAutofit/>
          </a:bodyPr>
          <a:lstStyle/>
          <a:p>
            <a:r>
              <a:rPr lang="en-US" sz="2400" dirty="0">
                <a:solidFill>
                  <a:schemeClr val="tx1"/>
                </a:solidFill>
              </a:rPr>
              <a:t>Concepts include beliefs, theories, ideas, principles, and the like. They are more abstract than objects, processes, or events. The following are examples of subjects for speeches about concepts:</a:t>
            </a:r>
          </a:p>
          <a:p>
            <a:pPr algn="l"/>
            <a:r>
              <a:rPr lang="en-US" sz="2400" dirty="0">
                <a:solidFill>
                  <a:schemeClr val="tx1"/>
                </a:solidFill>
              </a:rPr>
              <a:t>Non-violent resistance (</a:t>
            </a:r>
            <a:r>
              <a:rPr lang="en-US" sz="2400" b="0" i="0" u="none" strike="noStrike" baseline="0" dirty="0">
                <a:solidFill>
                  <a:schemeClr val="tx1"/>
                </a:solidFill>
              </a:rPr>
              <a:t>To inform my audience about the basic principles of nonviolent resistance.)</a:t>
            </a:r>
          </a:p>
          <a:p>
            <a:pPr algn="l"/>
            <a:r>
              <a:rPr lang="en-US" sz="2400" dirty="0">
                <a:solidFill>
                  <a:schemeClr val="tx1"/>
                </a:solidFill>
              </a:rPr>
              <a:t>Homeschooling (</a:t>
            </a:r>
            <a:r>
              <a:rPr lang="en-US" sz="2400" b="0" i="0" u="none" strike="noStrike" baseline="0" dirty="0">
                <a:solidFill>
                  <a:schemeClr val="tx1"/>
                </a:solidFill>
              </a:rPr>
              <a:t>To inform my audience about different philosophies of homeschooling.</a:t>
            </a:r>
            <a:r>
              <a:rPr lang="en-US" sz="2400" dirty="0">
                <a:solidFill>
                  <a:schemeClr val="tx1"/>
                </a:solidFill>
              </a:rPr>
              <a:t>)</a:t>
            </a:r>
          </a:p>
        </p:txBody>
      </p:sp>
      <p:pic>
        <p:nvPicPr>
          <p:cNvPr id="5" name="Picture 4">
            <a:extLst>
              <a:ext uri="{FF2B5EF4-FFF2-40B4-BE49-F238E27FC236}">
                <a16:creationId xmlns:a16="http://schemas.microsoft.com/office/drawing/2014/main" id="{4A99F84E-02D9-36F1-127E-891D0E5E2F71}"/>
              </a:ext>
            </a:extLst>
          </p:cNvPr>
          <p:cNvPicPr>
            <a:picLocks noChangeAspect="1"/>
          </p:cNvPicPr>
          <p:nvPr/>
        </p:nvPicPr>
        <p:blipFill>
          <a:blip r:embed="rId2"/>
          <a:stretch>
            <a:fillRect/>
          </a:stretch>
        </p:blipFill>
        <p:spPr>
          <a:xfrm>
            <a:off x="9090151" y="2890374"/>
            <a:ext cx="2922839" cy="1319157"/>
          </a:xfrm>
          <a:prstGeom prst="rect">
            <a:avLst/>
          </a:prstGeom>
        </p:spPr>
      </p:pic>
    </p:spTree>
    <p:extLst>
      <p:ext uri="{BB962C8B-B14F-4D97-AF65-F5344CB8AC3E}">
        <p14:creationId xmlns:p14="http://schemas.microsoft.com/office/powerpoint/2010/main" val="4211597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288C-B32C-0E07-A971-D2CC63D9C6D2}"/>
              </a:ext>
            </a:extLst>
          </p:cNvPr>
          <p:cNvSpPr>
            <a:spLocks noGrp="1"/>
          </p:cNvSpPr>
          <p:nvPr>
            <p:ph type="title"/>
          </p:nvPr>
        </p:nvSpPr>
        <p:spPr/>
        <p:txBody>
          <a:bodyPr/>
          <a:lstStyle/>
          <a:p>
            <a:r>
              <a:rPr lang="en-US" dirty="0"/>
              <a:t>Topic: “Electrical Vehicle”</a:t>
            </a:r>
          </a:p>
        </p:txBody>
      </p:sp>
      <p:sp>
        <p:nvSpPr>
          <p:cNvPr id="3" name="Content Placeholder 2">
            <a:extLst>
              <a:ext uri="{FF2B5EF4-FFF2-40B4-BE49-F238E27FC236}">
                <a16:creationId xmlns:a16="http://schemas.microsoft.com/office/drawing/2014/main" id="{6DAC72E4-93FB-EEBC-0C5E-CE6E36E8CA3B}"/>
              </a:ext>
            </a:extLst>
          </p:cNvPr>
          <p:cNvSpPr>
            <a:spLocks noGrp="1"/>
          </p:cNvSpPr>
          <p:nvPr>
            <p:ph idx="1"/>
          </p:nvPr>
        </p:nvSpPr>
        <p:spPr/>
        <p:txBody>
          <a:bodyPr>
            <a:normAutofit/>
          </a:bodyPr>
          <a:lstStyle/>
          <a:p>
            <a:r>
              <a:rPr lang="en-US" sz="3200" dirty="0"/>
              <a:t>How would the same topic fit in the different categories?</a:t>
            </a:r>
          </a:p>
          <a:p>
            <a:endParaRPr lang="en-US" sz="3200" dirty="0"/>
          </a:p>
          <a:p>
            <a:r>
              <a:rPr lang="en-US" sz="3200" dirty="0"/>
              <a:t>Object</a:t>
            </a:r>
          </a:p>
          <a:p>
            <a:r>
              <a:rPr lang="en-US" sz="3200" dirty="0"/>
              <a:t>Process</a:t>
            </a:r>
          </a:p>
          <a:p>
            <a:r>
              <a:rPr lang="en-US" sz="3200" dirty="0"/>
              <a:t>Event</a:t>
            </a:r>
          </a:p>
          <a:p>
            <a:r>
              <a:rPr lang="en-US" sz="3200" dirty="0"/>
              <a:t>Concept</a:t>
            </a:r>
          </a:p>
        </p:txBody>
      </p:sp>
    </p:spTree>
    <p:extLst>
      <p:ext uri="{BB962C8B-B14F-4D97-AF65-F5344CB8AC3E}">
        <p14:creationId xmlns:p14="http://schemas.microsoft.com/office/powerpoint/2010/main" val="971736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67FBF-A53D-D178-AB51-E0F31BEE3E8A}"/>
              </a:ext>
            </a:extLst>
          </p:cNvPr>
          <p:cNvSpPr>
            <a:spLocks noGrp="1"/>
          </p:cNvSpPr>
          <p:nvPr>
            <p:ph type="title"/>
          </p:nvPr>
        </p:nvSpPr>
        <p:spPr/>
        <p:txBody>
          <a:bodyPr/>
          <a:lstStyle/>
          <a:p>
            <a:r>
              <a:rPr lang="en-US" dirty="0"/>
              <a:t>Free-Writing Activity</a:t>
            </a:r>
          </a:p>
        </p:txBody>
      </p:sp>
      <p:sp>
        <p:nvSpPr>
          <p:cNvPr id="3" name="Content Placeholder 2">
            <a:extLst>
              <a:ext uri="{FF2B5EF4-FFF2-40B4-BE49-F238E27FC236}">
                <a16:creationId xmlns:a16="http://schemas.microsoft.com/office/drawing/2014/main" id="{248A5331-D440-EF17-6B14-43D1BEFE41FD}"/>
              </a:ext>
            </a:extLst>
          </p:cNvPr>
          <p:cNvSpPr>
            <a:spLocks noGrp="1"/>
          </p:cNvSpPr>
          <p:nvPr>
            <p:ph idx="1"/>
          </p:nvPr>
        </p:nvSpPr>
        <p:spPr>
          <a:xfrm>
            <a:off x="590247" y="1944914"/>
            <a:ext cx="11466285" cy="4455886"/>
          </a:xfrm>
        </p:spPr>
        <p:txBody>
          <a:bodyPr>
            <a:noAutofit/>
          </a:bodyPr>
          <a:lstStyle/>
          <a:p>
            <a:r>
              <a:rPr lang="en-US" sz="2800" dirty="0"/>
              <a:t>Take a few minutes to jot down a few topic ideas underneath the different categories:</a:t>
            </a:r>
          </a:p>
          <a:p>
            <a:r>
              <a:rPr lang="en-US" sz="2800" dirty="0"/>
              <a:t>- Objects</a:t>
            </a:r>
          </a:p>
          <a:p>
            <a:r>
              <a:rPr lang="en-US" sz="2800" dirty="0"/>
              <a:t>- Processes</a:t>
            </a:r>
          </a:p>
          <a:p>
            <a:r>
              <a:rPr lang="en-US" sz="2800" dirty="0"/>
              <a:t>- Events</a:t>
            </a:r>
          </a:p>
          <a:p>
            <a:r>
              <a:rPr lang="en-US" sz="2800" dirty="0"/>
              <a:t>- Concepts</a:t>
            </a:r>
          </a:p>
          <a:p>
            <a:r>
              <a:rPr lang="en-US" sz="2800" dirty="0"/>
              <a:t>Write about whatever comes to mind. Writing anything and everything. Don’t think about it </a:t>
            </a:r>
            <a:r>
              <a:rPr lang="en-US" sz="2800" u="sng" dirty="0"/>
              <a:t>just write</a:t>
            </a:r>
            <a:r>
              <a:rPr lang="en-US" sz="2800" dirty="0"/>
              <a:t>.</a:t>
            </a:r>
          </a:p>
        </p:txBody>
      </p:sp>
    </p:spTree>
    <p:extLst>
      <p:ext uri="{BB962C8B-B14F-4D97-AF65-F5344CB8AC3E}">
        <p14:creationId xmlns:p14="http://schemas.microsoft.com/office/powerpoint/2010/main" val="354304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A49A-A94A-BF05-6525-88D7AEDC6060}"/>
              </a:ext>
            </a:extLst>
          </p:cNvPr>
          <p:cNvSpPr>
            <a:spLocks noGrp="1"/>
          </p:cNvSpPr>
          <p:nvPr>
            <p:ph type="title"/>
          </p:nvPr>
        </p:nvSpPr>
        <p:spPr>
          <a:xfrm>
            <a:off x="6235238" y="955641"/>
            <a:ext cx="5531273" cy="4248787"/>
          </a:xfrm>
        </p:spPr>
        <p:txBody>
          <a:bodyPr vert="horz" lIns="91440" tIns="45720" rIns="91440" bIns="45720" rtlCol="0" anchor="b">
            <a:normAutofit/>
          </a:bodyPr>
          <a:lstStyle/>
          <a:p>
            <a:r>
              <a:rPr lang="en-US" sz="3200" dirty="0">
                <a:solidFill>
                  <a:schemeClr val="tx1">
                    <a:lumMod val="85000"/>
                    <a:lumOff val="15000"/>
                  </a:schemeClr>
                </a:solidFill>
              </a:rPr>
              <a:t>When selecting a topic, follow the motto:</a:t>
            </a:r>
            <a:br>
              <a:rPr lang="en-US" sz="3200" dirty="0">
                <a:solidFill>
                  <a:schemeClr val="tx1">
                    <a:lumMod val="85000"/>
                    <a:lumOff val="15000"/>
                  </a:schemeClr>
                </a:solidFill>
              </a:rPr>
            </a:br>
            <a:br>
              <a:rPr lang="en-US" sz="3200" dirty="0">
                <a:solidFill>
                  <a:schemeClr val="tx1">
                    <a:lumMod val="85000"/>
                    <a:lumOff val="15000"/>
                  </a:schemeClr>
                </a:solidFill>
              </a:rPr>
            </a:br>
            <a:r>
              <a:rPr lang="en-US" sz="3200" dirty="0">
                <a:solidFill>
                  <a:schemeClr val="tx1">
                    <a:lumMod val="85000"/>
                    <a:lumOff val="15000"/>
                  </a:schemeClr>
                </a:solidFill>
              </a:rPr>
              <a:t>“Teach me something new!”</a:t>
            </a:r>
            <a:br>
              <a:rPr lang="en-US" sz="3200" dirty="0">
                <a:solidFill>
                  <a:schemeClr val="tx1">
                    <a:lumMod val="85000"/>
                    <a:lumOff val="15000"/>
                  </a:schemeClr>
                </a:solidFill>
              </a:rPr>
            </a:br>
            <a:br>
              <a:rPr lang="en-US" sz="3200" dirty="0">
                <a:solidFill>
                  <a:schemeClr val="tx1">
                    <a:lumMod val="85000"/>
                    <a:lumOff val="15000"/>
                  </a:schemeClr>
                </a:solidFill>
              </a:rPr>
            </a:br>
            <a:r>
              <a:rPr lang="en-US" sz="3200" dirty="0">
                <a:solidFill>
                  <a:schemeClr val="tx1">
                    <a:lumMod val="85000"/>
                    <a:lumOff val="15000"/>
                  </a:schemeClr>
                </a:solidFill>
              </a:rPr>
              <a:t>(should be related to your major)</a:t>
            </a:r>
            <a:br>
              <a:rPr lang="en-US" sz="3200" dirty="0">
                <a:solidFill>
                  <a:schemeClr val="tx1">
                    <a:lumMod val="85000"/>
                    <a:lumOff val="15000"/>
                  </a:schemeClr>
                </a:solidFill>
              </a:rPr>
            </a:br>
            <a:endParaRPr lang="en-US" sz="3200" dirty="0">
              <a:solidFill>
                <a:schemeClr val="tx1">
                  <a:lumMod val="85000"/>
                  <a:lumOff val="15000"/>
                </a:schemeClr>
              </a:solidFill>
            </a:endParaRPr>
          </a:p>
        </p:txBody>
      </p:sp>
      <p:pic>
        <p:nvPicPr>
          <p:cNvPr id="7" name="Picture 6" descr="A person looking up at a light bulb&#10;&#10;AI-generated content may be incorrect.">
            <a:extLst>
              <a:ext uri="{FF2B5EF4-FFF2-40B4-BE49-F238E27FC236}">
                <a16:creationId xmlns:a16="http://schemas.microsoft.com/office/drawing/2014/main" id="{21812D47-270B-FBFD-5D58-354D0DB4CB22}"/>
              </a:ext>
            </a:extLst>
          </p:cNvPr>
          <p:cNvPicPr>
            <a:picLocks noChangeAspect="1"/>
          </p:cNvPicPr>
          <p:nvPr/>
        </p:nvPicPr>
        <p:blipFill>
          <a:blip r:embed="rId2">
            <a:extLst>
              <a:ext uri="{28A0092B-C50C-407E-A947-70E740481C1C}">
                <a14:useLocalDpi xmlns:a14="http://schemas.microsoft.com/office/drawing/2010/main" val="0"/>
              </a:ext>
            </a:extLst>
          </a:blip>
          <a:srcRect l="22853" r="9605" b="2"/>
          <a:stretch/>
        </p:blipFill>
        <p:spPr>
          <a:xfrm>
            <a:off x="633999" y="640081"/>
            <a:ext cx="5462001" cy="5054156"/>
          </a:xfrm>
          <a:prstGeom prst="rect">
            <a:avLst/>
          </a:prstGeom>
        </p:spPr>
      </p:pic>
    </p:spTree>
    <p:extLst>
      <p:ext uri="{BB962C8B-B14F-4D97-AF65-F5344CB8AC3E}">
        <p14:creationId xmlns:p14="http://schemas.microsoft.com/office/powerpoint/2010/main" val="351282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C9D5-7951-F3F8-D35E-E6BF85662409}"/>
              </a:ext>
            </a:extLst>
          </p:cNvPr>
          <p:cNvSpPr>
            <a:spLocks noGrp="1"/>
          </p:cNvSpPr>
          <p:nvPr>
            <p:ph type="title" idx="4294967295"/>
          </p:nvPr>
        </p:nvSpPr>
        <p:spPr>
          <a:xfrm>
            <a:off x="0" y="882650"/>
            <a:ext cx="10058400" cy="4856163"/>
          </a:xfrm>
        </p:spPr>
        <p:txBody>
          <a:bodyPr>
            <a:normAutofit fontScale="90000"/>
          </a:bodyPr>
          <a:lstStyle/>
          <a:p>
            <a:r>
              <a:rPr lang="en-US" sz="6000" b="1" dirty="0"/>
              <a:t>Establish:</a:t>
            </a:r>
            <a:br>
              <a:rPr lang="en-US" sz="6000" dirty="0"/>
            </a:br>
            <a:br>
              <a:rPr lang="en-US" dirty="0"/>
            </a:br>
            <a:r>
              <a:rPr lang="en-US" dirty="0"/>
              <a:t>Topic:</a:t>
            </a:r>
            <a:br>
              <a:rPr lang="en-US" dirty="0"/>
            </a:br>
            <a:br>
              <a:rPr lang="en-US" dirty="0"/>
            </a:br>
            <a:r>
              <a:rPr lang="en-US" dirty="0"/>
              <a:t>General Purpose:</a:t>
            </a:r>
            <a:br>
              <a:rPr lang="en-US" dirty="0"/>
            </a:br>
            <a:br>
              <a:rPr lang="en-US" dirty="0"/>
            </a:br>
            <a:br>
              <a:rPr lang="en-US" dirty="0"/>
            </a:br>
            <a:br>
              <a:rPr lang="en-US" dirty="0"/>
            </a:br>
            <a:r>
              <a:rPr lang="en-US" dirty="0"/>
              <a:t>Specific Purpose:</a:t>
            </a:r>
          </a:p>
        </p:txBody>
      </p:sp>
      <p:pic>
        <p:nvPicPr>
          <p:cNvPr id="5" name="Picture 4">
            <a:extLst>
              <a:ext uri="{FF2B5EF4-FFF2-40B4-BE49-F238E27FC236}">
                <a16:creationId xmlns:a16="http://schemas.microsoft.com/office/drawing/2014/main" id="{CB35857A-BC6C-1489-6333-60CBC74F24EE}"/>
              </a:ext>
            </a:extLst>
          </p:cNvPr>
          <p:cNvPicPr>
            <a:picLocks noChangeAspect="1"/>
          </p:cNvPicPr>
          <p:nvPr/>
        </p:nvPicPr>
        <p:blipFill>
          <a:blip r:embed="rId2"/>
          <a:stretch>
            <a:fillRect/>
          </a:stretch>
        </p:blipFill>
        <p:spPr>
          <a:xfrm>
            <a:off x="6432497" y="3760525"/>
            <a:ext cx="4448863" cy="2890896"/>
          </a:xfrm>
          <a:prstGeom prst="rect">
            <a:avLst/>
          </a:prstGeom>
        </p:spPr>
      </p:pic>
    </p:spTree>
    <p:extLst>
      <p:ext uri="{BB962C8B-B14F-4D97-AF65-F5344CB8AC3E}">
        <p14:creationId xmlns:p14="http://schemas.microsoft.com/office/powerpoint/2010/main" val="1625893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1B7F-4CC0-FFB3-D83F-51DEC688C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DE627-405D-650B-EAEC-063D16A992AC}"/>
              </a:ext>
            </a:extLst>
          </p:cNvPr>
          <p:cNvSpPr>
            <a:spLocks noGrp="1"/>
          </p:cNvSpPr>
          <p:nvPr>
            <p:ph type="title" idx="4294967295"/>
          </p:nvPr>
        </p:nvSpPr>
        <p:spPr>
          <a:xfrm>
            <a:off x="897731" y="161551"/>
            <a:ext cx="10396537" cy="5684838"/>
          </a:xfrm>
        </p:spPr>
        <p:txBody>
          <a:bodyPr>
            <a:normAutofit fontScale="90000"/>
          </a:bodyPr>
          <a:lstStyle/>
          <a:p>
            <a:r>
              <a:rPr lang="en-US" sz="6000" b="1" dirty="0"/>
              <a:t>Example:</a:t>
            </a:r>
            <a:br>
              <a:rPr lang="en-US" sz="6000" dirty="0"/>
            </a:br>
            <a:br>
              <a:rPr lang="en-US" dirty="0"/>
            </a:br>
            <a:br>
              <a:rPr lang="en-US" dirty="0"/>
            </a:br>
            <a:r>
              <a:rPr lang="en-US" b="1" dirty="0"/>
              <a:t>Topic: </a:t>
            </a:r>
            <a:r>
              <a:rPr lang="en-US" dirty="0"/>
              <a:t>Electric Vehicles</a:t>
            </a:r>
            <a:br>
              <a:rPr lang="en-US" dirty="0"/>
            </a:br>
            <a:br>
              <a:rPr lang="en-US" dirty="0"/>
            </a:br>
            <a:r>
              <a:rPr lang="en-US" b="1" dirty="0"/>
              <a:t>General Purpose: </a:t>
            </a:r>
            <a:r>
              <a:rPr lang="en-US" dirty="0"/>
              <a:t>To inform</a:t>
            </a:r>
            <a:br>
              <a:rPr lang="en-US" dirty="0"/>
            </a:br>
            <a:br>
              <a:rPr lang="en-US" dirty="0"/>
            </a:br>
            <a:r>
              <a:rPr lang="en-US" b="1" dirty="0"/>
              <a:t>Specific Purpose: </a:t>
            </a:r>
            <a:r>
              <a:rPr lang="en-US" dirty="0"/>
              <a:t>To inform my audience how electric vehicles are constructed.</a:t>
            </a:r>
          </a:p>
        </p:txBody>
      </p:sp>
    </p:spTree>
    <p:extLst>
      <p:ext uri="{BB962C8B-B14F-4D97-AF65-F5344CB8AC3E}">
        <p14:creationId xmlns:p14="http://schemas.microsoft.com/office/powerpoint/2010/main" val="2441175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9371-998A-0587-9F40-474C52F69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106E2-E07A-6567-0BAF-FFD71C35530A}"/>
              </a:ext>
            </a:extLst>
          </p:cNvPr>
          <p:cNvSpPr>
            <a:spLocks noGrp="1"/>
          </p:cNvSpPr>
          <p:nvPr>
            <p:ph type="title" idx="4294967295"/>
          </p:nvPr>
        </p:nvSpPr>
        <p:spPr>
          <a:xfrm>
            <a:off x="897731" y="161551"/>
            <a:ext cx="10396537" cy="5684838"/>
          </a:xfrm>
        </p:spPr>
        <p:txBody>
          <a:bodyPr>
            <a:normAutofit fontScale="90000"/>
          </a:bodyPr>
          <a:lstStyle/>
          <a:p>
            <a:r>
              <a:rPr lang="en-US" sz="6000" b="1" dirty="0"/>
              <a:t>Example:</a:t>
            </a:r>
            <a:br>
              <a:rPr lang="en-US" sz="6000" dirty="0"/>
            </a:br>
            <a:br>
              <a:rPr lang="en-US" dirty="0"/>
            </a:br>
            <a:br>
              <a:rPr lang="en-US" dirty="0"/>
            </a:br>
            <a:r>
              <a:rPr lang="en-US" b="1" dirty="0"/>
              <a:t>Topic: </a:t>
            </a:r>
            <a:r>
              <a:rPr lang="en-US" dirty="0"/>
              <a:t>Artificial Intelligence</a:t>
            </a:r>
            <a:br>
              <a:rPr lang="en-US" dirty="0"/>
            </a:br>
            <a:br>
              <a:rPr lang="en-US" dirty="0"/>
            </a:br>
            <a:r>
              <a:rPr lang="en-US" b="1" dirty="0"/>
              <a:t>General Purpose: </a:t>
            </a:r>
            <a:r>
              <a:rPr lang="en-US" dirty="0"/>
              <a:t>To inform</a:t>
            </a:r>
            <a:br>
              <a:rPr lang="en-US" dirty="0"/>
            </a:br>
            <a:br>
              <a:rPr lang="en-US" dirty="0"/>
            </a:br>
            <a:r>
              <a:rPr lang="en-US" b="1" dirty="0"/>
              <a:t>Specific Purpose: </a:t>
            </a:r>
            <a:r>
              <a:rPr lang="en-US" dirty="0"/>
              <a:t>To inform my audience about artificial intelligence.</a:t>
            </a:r>
          </a:p>
        </p:txBody>
      </p:sp>
      <p:sp>
        <p:nvSpPr>
          <p:cNvPr id="3" name="&quot;Not Allowed&quot; Symbol 2">
            <a:extLst>
              <a:ext uri="{FF2B5EF4-FFF2-40B4-BE49-F238E27FC236}">
                <a16:creationId xmlns:a16="http://schemas.microsoft.com/office/drawing/2014/main" id="{38C32521-6D56-AE4C-78F6-B8F2DF90FAD7}"/>
              </a:ext>
            </a:extLst>
          </p:cNvPr>
          <p:cNvSpPr/>
          <p:nvPr/>
        </p:nvSpPr>
        <p:spPr>
          <a:xfrm>
            <a:off x="2008094" y="1613647"/>
            <a:ext cx="7942730" cy="4232742"/>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532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F6409-1103-1E5A-071F-A142040A7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8E244-1690-FA9B-F43A-FA1AD2D33AA0}"/>
              </a:ext>
            </a:extLst>
          </p:cNvPr>
          <p:cNvSpPr>
            <a:spLocks noGrp="1"/>
          </p:cNvSpPr>
          <p:nvPr>
            <p:ph type="title" idx="4294967295"/>
          </p:nvPr>
        </p:nvSpPr>
        <p:spPr>
          <a:xfrm>
            <a:off x="897731" y="358775"/>
            <a:ext cx="10396537" cy="5684838"/>
          </a:xfrm>
        </p:spPr>
        <p:txBody>
          <a:bodyPr>
            <a:normAutofit fontScale="90000"/>
          </a:bodyPr>
          <a:lstStyle/>
          <a:p>
            <a:r>
              <a:rPr lang="en-US" sz="6000" b="1" dirty="0"/>
              <a:t>Example:</a:t>
            </a:r>
            <a:br>
              <a:rPr lang="en-US" sz="6000" dirty="0"/>
            </a:br>
            <a:br>
              <a:rPr lang="en-US" dirty="0"/>
            </a:br>
            <a:br>
              <a:rPr lang="en-US" dirty="0"/>
            </a:br>
            <a:r>
              <a:rPr lang="en-US" b="1" dirty="0"/>
              <a:t>Topic: </a:t>
            </a:r>
            <a:r>
              <a:rPr lang="en-US" dirty="0"/>
              <a:t>Music Therapy</a:t>
            </a:r>
            <a:br>
              <a:rPr lang="en-US" dirty="0"/>
            </a:br>
            <a:br>
              <a:rPr lang="en-US" dirty="0"/>
            </a:br>
            <a:r>
              <a:rPr lang="en-US" b="1" dirty="0"/>
              <a:t>General Purpose: </a:t>
            </a:r>
            <a:r>
              <a:rPr lang="en-US" dirty="0"/>
              <a:t>To inform</a:t>
            </a:r>
            <a:br>
              <a:rPr lang="en-US" dirty="0"/>
            </a:br>
            <a:br>
              <a:rPr lang="en-US" dirty="0"/>
            </a:br>
            <a:r>
              <a:rPr lang="en-US" b="1" dirty="0"/>
              <a:t>Specific Purpose: </a:t>
            </a:r>
            <a:r>
              <a:rPr lang="en-US" dirty="0"/>
              <a:t>To inform my audience how music therapy helps people with psychological or cognitive disabilities.</a:t>
            </a:r>
          </a:p>
        </p:txBody>
      </p:sp>
    </p:spTree>
    <p:extLst>
      <p:ext uri="{BB962C8B-B14F-4D97-AF65-F5344CB8AC3E}">
        <p14:creationId xmlns:p14="http://schemas.microsoft.com/office/powerpoint/2010/main" val="10850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AAE1E-8FBD-21EA-07B2-C82CB0CD6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7D7D2-D244-69F0-89B5-BD7B03D6486B}"/>
              </a:ext>
            </a:extLst>
          </p:cNvPr>
          <p:cNvSpPr>
            <a:spLocks noGrp="1"/>
          </p:cNvSpPr>
          <p:nvPr>
            <p:ph type="title" idx="4294967295"/>
          </p:nvPr>
        </p:nvSpPr>
        <p:spPr>
          <a:xfrm>
            <a:off x="1024497" y="-358402"/>
            <a:ext cx="10396537" cy="4087719"/>
          </a:xfrm>
        </p:spPr>
        <p:txBody>
          <a:bodyPr>
            <a:normAutofit/>
          </a:bodyPr>
          <a:lstStyle/>
          <a:p>
            <a:r>
              <a:rPr lang="en-US" sz="6000" b="1" dirty="0"/>
              <a:t>Example:</a:t>
            </a:r>
            <a:br>
              <a:rPr lang="en-US" sz="6000" dirty="0"/>
            </a:br>
            <a:br>
              <a:rPr lang="en-US" dirty="0"/>
            </a:br>
            <a:r>
              <a:rPr lang="en-US" b="1" dirty="0"/>
              <a:t>Topic: </a:t>
            </a:r>
            <a:r>
              <a:rPr lang="en-US" dirty="0"/>
              <a:t>Cybersecurity</a:t>
            </a:r>
            <a:br>
              <a:rPr lang="en-US" dirty="0"/>
            </a:br>
            <a:br>
              <a:rPr lang="en-US" dirty="0"/>
            </a:br>
            <a:r>
              <a:rPr lang="en-US" b="1" dirty="0"/>
              <a:t>General Purpose: </a:t>
            </a:r>
            <a:r>
              <a:rPr lang="en-US" dirty="0"/>
              <a:t>To inform</a:t>
            </a:r>
          </a:p>
        </p:txBody>
      </p:sp>
      <p:sp>
        <p:nvSpPr>
          <p:cNvPr id="4" name="TextBox 3">
            <a:extLst>
              <a:ext uri="{FF2B5EF4-FFF2-40B4-BE49-F238E27FC236}">
                <a16:creationId xmlns:a16="http://schemas.microsoft.com/office/drawing/2014/main" id="{53D7BBF3-D1C1-A676-6262-E51D186A136D}"/>
              </a:ext>
            </a:extLst>
          </p:cNvPr>
          <p:cNvSpPr txBox="1"/>
          <p:nvPr/>
        </p:nvSpPr>
        <p:spPr>
          <a:xfrm>
            <a:off x="1024497" y="3854823"/>
            <a:ext cx="10575832" cy="2308324"/>
          </a:xfrm>
          <a:prstGeom prst="rect">
            <a:avLst/>
          </a:prstGeom>
          <a:noFill/>
        </p:spPr>
        <p:txBody>
          <a:bodyPr wrap="square">
            <a:spAutoFit/>
          </a:bodyPr>
          <a:lstStyle/>
          <a:p>
            <a:r>
              <a:rPr lang="en-US" sz="4800" b="1" spc="-50" dirty="0">
                <a:solidFill>
                  <a:schemeClr val="tx1">
                    <a:lumMod val="75000"/>
                    <a:lumOff val="25000"/>
                  </a:schemeClr>
                </a:solidFill>
                <a:latin typeface="+mj-lt"/>
                <a:ea typeface="+mj-ea"/>
                <a:cs typeface="+mj-cs"/>
              </a:rPr>
              <a:t>Specific Purpose: </a:t>
            </a:r>
            <a:r>
              <a:rPr lang="en-US" sz="4800" spc="-50" dirty="0">
                <a:solidFill>
                  <a:schemeClr val="tx1">
                    <a:lumMod val="75000"/>
                    <a:lumOff val="25000"/>
                  </a:schemeClr>
                </a:solidFill>
                <a:latin typeface="+mj-lt"/>
                <a:ea typeface="+mj-ea"/>
                <a:cs typeface="+mj-cs"/>
              </a:rPr>
              <a:t>To inform my audience about common online threats and how they occur.</a:t>
            </a:r>
          </a:p>
        </p:txBody>
      </p:sp>
    </p:spTree>
    <p:extLst>
      <p:ext uri="{BB962C8B-B14F-4D97-AF65-F5344CB8AC3E}">
        <p14:creationId xmlns:p14="http://schemas.microsoft.com/office/powerpoint/2010/main" val="83377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289F-F5C1-4EA4-9D64-FC57E8A00977}"/>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251D37FF-FEA9-0D0F-C785-364251EFA64B}"/>
              </a:ext>
            </a:extLst>
          </p:cNvPr>
          <p:cNvSpPr>
            <a:spLocks noGrp="1"/>
          </p:cNvSpPr>
          <p:nvPr>
            <p:ph idx="1"/>
          </p:nvPr>
        </p:nvSpPr>
        <p:spPr>
          <a:xfrm>
            <a:off x="1097280" y="1845733"/>
            <a:ext cx="10058400" cy="4053043"/>
          </a:xfrm>
        </p:spPr>
        <p:txBody>
          <a:bodyPr>
            <a:normAutofit/>
          </a:bodyPr>
          <a:lstStyle/>
          <a:p>
            <a:r>
              <a:rPr lang="en-US" sz="2400" dirty="0"/>
              <a:t>Here are several specific purpose statements for classroom speeches. Identify the problem (or problems) with each.</a:t>
            </a:r>
          </a:p>
          <a:p>
            <a:pPr marL="457200" indent="-457200">
              <a:buFont typeface="+mj-lt"/>
              <a:buAutoNum type="alphaLcPeriod"/>
            </a:pPr>
            <a:r>
              <a:rPr lang="en-US" sz="2400" dirty="0"/>
              <a:t>To inform my audience about Portugal.</a:t>
            </a:r>
          </a:p>
          <a:p>
            <a:pPr marL="457200" indent="-457200">
              <a:buFont typeface="+mj-lt"/>
              <a:buAutoNum type="alphaLcPeriod"/>
            </a:pPr>
            <a:r>
              <a:rPr lang="en-US" sz="2400" dirty="0"/>
              <a:t>Donate blood.</a:t>
            </a:r>
          </a:p>
          <a:p>
            <a:pPr marL="457200" indent="-457200">
              <a:buFont typeface="+mj-lt"/>
              <a:buAutoNum type="alphaLcPeriod"/>
            </a:pPr>
            <a:r>
              <a:rPr lang="en-US" sz="2400" dirty="0"/>
              <a:t>To inform my audience why square grooves are superior to U-shaped grooves on golf clubs.</a:t>
            </a:r>
          </a:p>
          <a:p>
            <a:pPr marL="457200" indent="-457200">
              <a:buFont typeface="+mj-lt"/>
              <a:buAutoNum type="alphaLcPeriod"/>
            </a:pPr>
            <a:r>
              <a:rPr lang="en-US" sz="2400" dirty="0"/>
              <a:t>What is the Great Pacific Garbage Patch?</a:t>
            </a:r>
          </a:p>
          <a:p>
            <a:pPr marL="457200" indent="-457200">
              <a:buFont typeface="+mj-lt"/>
              <a:buAutoNum type="alphaLcPeriod"/>
            </a:pPr>
            <a:r>
              <a:rPr lang="en-US" sz="2400" dirty="0"/>
              <a:t>To inform my audience how to register for classes.</a:t>
            </a:r>
          </a:p>
        </p:txBody>
      </p:sp>
    </p:spTree>
    <p:extLst>
      <p:ext uri="{BB962C8B-B14F-4D97-AF65-F5344CB8AC3E}">
        <p14:creationId xmlns:p14="http://schemas.microsoft.com/office/powerpoint/2010/main" val="4068638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2E28-B8AF-74B8-C6F4-D698A592575C}"/>
              </a:ext>
            </a:extLst>
          </p:cNvPr>
          <p:cNvSpPr>
            <a:spLocks noGrp="1"/>
          </p:cNvSpPr>
          <p:nvPr>
            <p:ph type="title"/>
          </p:nvPr>
        </p:nvSpPr>
        <p:spPr/>
        <p:txBody>
          <a:bodyPr/>
          <a:lstStyle/>
          <a:p>
            <a:r>
              <a:rPr lang="en-US" dirty="0"/>
              <a:t>Informative Speech Example</a:t>
            </a:r>
          </a:p>
        </p:txBody>
      </p:sp>
      <p:sp>
        <p:nvSpPr>
          <p:cNvPr id="3" name="Content Placeholder 2">
            <a:extLst>
              <a:ext uri="{FF2B5EF4-FFF2-40B4-BE49-F238E27FC236}">
                <a16:creationId xmlns:a16="http://schemas.microsoft.com/office/drawing/2014/main" id="{6CD0980F-BBDD-E47C-37D9-D0CFE0FF6439}"/>
              </a:ext>
            </a:extLst>
          </p:cNvPr>
          <p:cNvSpPr>
            <a:spLocks noGrp="1"/>
          </p:cNvSpPr>
          <p:nvPr>
            <p:ph idx="1"/>
          </p:nvPr>
        </p:nvSpPr>
        <p:spPr>
          <a:xfrm>
            <a:off x="1036320" y="1737360"/>
            <a:ext cx="10058400" cy="4023360"/>
          </a:xfrm>
        </p:spPr>
        <p:txBody>
          <a:bodyPr/>
          <a:lstStyle/>
          <a:p>
            <a:endParaRPr lang="en-US" dirty="0"/>
          </a:p>
          <a:p>
            <a:r>
              <a:rPr lang="en-US" dirty="0">
                <a:hlinkClick r:id="rId2"/>
              </a:rPr>
              <a:t>https://www.youtube.com/watch?v=StPSgqwCnVk&amp;t=34s</a:t>
            </a:r>
            <a:endParaRPr lang="en-US" dirty="0"/>
          </a:p>
          <a:p>
            <a:r>
              <a:rPr lang="en-US" dirty="0">
                <a:hlinkClick r:id="rId3"/>
              </a:rPr>
              <a:t>https://cornerstone.lib.mnsu.edu/afa-niet-recordings/2018/informative-speaking/4/</a:t>
            </a:r>
            <a:endParaRPr lang="en-US" dirty="0"/>
          </a:p>
          <a:p>
            <a:r>
              <a:rPr lang="en-US" dirty="0">
                <a:hlinkClick r:id="rId4"/>
              </a:rPr>
              <a:t>https://www.youtube.com/watch?v=dxd9xGH09lg</a:t>
            </a:r>
            <a:endParaRPr lang="en-US" dirty="0"/>
          </a:p>
          <a:p>
            <a:endParaRPr lang="en-US" dirty="0"/>
          </a:p>
          <a:p>
            <a:endParaRPr lang="en-US" dirty="0"/>
          </a:p>
        </p:txBody>
      </p:sp>
    </p:spTree>
    <p:extLst>
      <p:ext uri="{BB962C8B-B14F-4D97-AF65-F5344CB8AC3E}">
        <p14:creationId xmlns:p14="http://schemas.microsoft.com/office/powerpoint/2010/main" val="2186839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741AE-D112-B9A3-79F3-2C02C1398354}"/>
              </a:ext>
            </a:extLst>
          </p:cNvPr>
          <p:cNvSpPr>
            <a:spLocks noGrp="1"/>
          </p:cNvSpPr>
          <p:nvPr>
            <p:ph type="title"/>
          </p:nvPr>
        </p:nvSpPr>
        <p:spPr/>
        <p:txBody>
          <a:bodyPr/>
          <a:lstStyle/>
          <a:p>
            <a:r>
              <a:rPr lang="en-US" dirty="0"/>
              <a:t>Same Topic, Different Audience</a:t>
            </a:r>
          </a:p>
        </p:txBody>
      </p:sp>
      <p:sp>
        <p:nvSpPr>
          <p:cNvPr id="3" name="Content Placeholder 2">
            <a:extLst>
              <a:ext uri="{FF2B5EF4-FFF2-40B4-BE49-F238E27FC236}">
                <a16:creationId xmlns:a16="http://schemas.microsoft.com/office/drawing/2014/main" id="{310EA6A3-A1F0-6D35-C75D-5A4F1FA85F10}"/>
              </a:ext>
            </a:extLst>
          </p:cNvPr>
          <p:cNvSpPr>
            <a:spLocks noGrp="1"/>
          </p:cNvSpPr>
          <p:nvPr>
            <p:ph idx="1"/>
          </p:nvPr>
        </p:nvSpPr>
        <p:spPr>
          <a:xfrm>
            <a:off x="1097280" y="1845733"/>
            <a:ext cx="10058400" cy="4535815"/>
          </a:xfrm>
        </p:spPr>
        <p:txBody>
          <a:bodyPr>
            <a:normAutofit lnSpcReduction="10000"/>
          </a:bodyPr>
          <a:lstStyle/>
          <a:p>
            <a:r>
              <a:rPr lang="en-US" sz="3200" b="1" spc="-50" dirty="0"/>
              <a:t>Specific Purpose: </a:t>
            </a:r>
            <a:r>
              <a:rPr lang="en-US" sz="3200" spc="-50" dirty="0"/>
              <a:t>To inform my audience about common online threats and how they occur.</a:t>
            </a:r>
          </a:p>
          <a:p>
            <a:endParaRPr lang="en-US" sz="2800" spc="-50" dirty="0"/>
          </a:p>
          <a:p>
            <a:r>
              <a:rPr lang="en-US" sz="2800" spc="-50" dirty="0"/>
              <a:t>Audience: Business Investors</a:t>
            </a:r>
          </a:p>
          <a:p>
            <a:pPr marL="0" indent="0">
              <a:buNone/>
            </a:pPr>
            <a:r>
              <a:rPr lang="en-US" sz="2800" spc="-50" dirty="0"/>
              <a:t>To inform my audience about common online threats and how they can impact financial assets, data integrity, and business continuity.</a:t>
            </a:r>
          </a:p>
          <a:p>
            <a:pPr marL="0" indent="0">
              <a:buNone/>
            </a:pPr>
            <a:r>
              <a:rPr lang="en-US" sz="2800" spc="-50" dirty="0"/>
              <a:t>Audience: Engineering Professionals</a:t>
            </a:r>
          </a:p>
          <a:p>
            <a:pPr marL="0" indent="0">
              <a:buNone/>
            </a:pPr>
            <a:r>
              <a:rPr lang="en-US" sz="2800" dirty="0"/>
              <a:t>To inform my audience about common online threats targeting digital systems and the mechanisms through which these attacks exploit technical vulnerabilities.</a:t>
            </a:r>
            <a:endParaRPr lang="en-US" sz="2800" spc="-50" dirty="0"/>
          </a:p>
        </p:txBody>
      </p:sp>
    </p:spTree>
    <p:extLst>
      <p:ext uri="{BB962C8B-B14F-4D97-AF65-F5344CB8AC3E}">
        <p14:creationId xmlns:p14="http://schemas.microsoft.com/office/powerpoint/2010/main" val="128412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66BA-08A0-377B-1E88-A701BC6077A4}"/>
              </a:ext>
            </a:extLst>
          </p:cNvPr>
          <p:cNvSpPr>
            <a:spLocks noGrp="1"/>
          </p:cNvSpPr>
          <p:nvPr>
            <p:ph type="title"/>
          </p:nvPr>
        </p:nvSpPr>
        <p:spPr>
          <a:xfrm>
            <a:off x="6442361" y="314945"/>
            <a:ext cx="4813072" cy="3686015"/>
          </a:xfrm>
        </p:spPr>
        <p:txBody>
          <a:bodyPr vert="horz" lIns="91440" tIns="45720" rIns="91440" bIns="45720" rtlCol="0" anchor="b">
            <a:normAutofit/>
          </a:bodyPr>
          <a:lstStyle/>
          <a:p>
            <a:r>
              <a:rPr lang="en-US" sz="8000" dirty="0">
                <a:solidFill>
                  <a:schemeClr val="tx1">
                    <a:lumMod val="85000"/>
                    <a:lumOff val="15000"/>
                  </a:schemeClr>
                </a:solidFill>
              </a:rPr>
              <a:t>Write your specific purpose</a:t>
            </a:r>
          </a:p>
        </p:txBody>
      </p:sp>
      <p:pic>
        <p:nvPicPr>
          <p:cNvPr id="5" name="Content Placeholder 4" descr="A hand holding a wooden block with words on it&#10;&#10;AI-generated content may be incorrect.">
            <a:extLst>
              <a:ext uri="{FF2B5EF4-FFF2-40B4-BE49-F238E27FC236}">
                <a16:creationId xmlns:a16="http://schemas.microsoft.com/office/drawing/2014/main" id="{F08B103C-2FF3-4199-F30B-CCBAF38237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969" r="14571" b="-1"/>
          <a:stretch/>
        </p:blipFill>
        <p:spPr>
          <a:xfrm>
            <a:off x="633999" y="640081"/>
            <a:ext cx="5462001" cy="5054156"/>
          </a:xfrm>
          <a:prstGeom prst="rect">
            <a:avLst/>
          </a:prstGeom>
        </p:spPr>
      </p:pic>
      <p:sp>
        <p:nvSpPr>
          <p:cNvPr id="6" name="TextBox 5">
            <a:extLst>
              <a:ext uri="{FF2B5EF4-FFF2-40B4-BE49-F238E27FC236}">
                <a16:creationId xmlns:a16="http://schemas.microsoft.com/office/drawing/2014/main" id="{DE4D3A90-134A-CD87-8C5C-850C94069303}"/>
              </a:ext>
            </a:extLst>
          </p:cNvPr>
          <p:cNvSpPr txBox="1"/>
          <p:nvPr/>
        </p:nvSpPr>
        <p:spPr>
          <a:xfrm>
            <a:off x="6805053" y="4567212"/>
            <a:ext cx="4450380" cy="1569660"/>
          </a:xfrm>
          <a:prstGeom prst="rect">
            <a:avLst/>
          </a:prstGeom>
          <a:noFill/>
        </p:spPr>
        <p:txBody>
          <a:bodyPr wrap="square" rtlCol="0">
            <a:spAutoFit/>
          </a:bodyPr>
          <a:lstStyle/>
          <a:p>
            <a:r>
              <a:rPr lang="en-US" sz="3200" dirty="0"/>
              <a:t>Is there an interest in the audience to know about your topic/purpose?</a:t>
            </a:r>
          </a:p>
        </p:txBody>
      </p:sp>
    </p:spTree>
    <p:extLst>
      <p:ext uri="{BB962C8B-B14F-4D97-AF65-F5344CB8AC3E}">
        <p14:creationId xmlns:p14="http://schemas.microsoft.com/office/powerpoint/2010/main" val="363278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408C-5795-EADE-8919-FF369DA732BD}"/>
              </a:ext>
            </a:extLst>
          </p:cNvPr>
          <p:cNvSpPr>
            <a:spLocks noGrp="1"/>
          </p:cNvSpPr>
          <p:nvPr>
            <p:ph type="title"/>
          </p:nvPr>
        </p:nvSpPr>
        <p:spPr>
          <a:xfrm>
            <a:off x="633999" y="4123113"/>
            <a:ext cx="10909073" cy="1936865"/>
          </a:xfrm>
        </p:spPr>
        <p:txBody>
          <a:bodyPr vert="horz" lIns="91440" tIns="45720" rIns="91440" bIns="45720" rtlCol="0" anchor="b">
            <a:noAutofit/>
          </a:bodyPr>
          <a:lstStyle/>
          <a:p>
            <a:r>
              <a:rPr lang="en-US" dirty="0">
                <a:solidFill>
                  <a:schemeClr val="tx1">
                    <a:lumMod val="85000"/>
                    <a:lumOff val="15000"/>
                  </a:schemeClr>
                </a:solidFill>
              </a:rPr>
              <a:t>Getting to know your audience –</a:t>
            </a:r>
            <a:br>
              <a:rPr lang="en-US" dirty="0">
                <a:solidFill>
                  <a:schemeClr val="tx1">
                    <a:lumMod val="85000"/>
                    <a:lumOff val="15000"/>
                  </a:schemeClr>
                </a:solidFill>
              </a:rPr>
            </a:br>
            <a:r>
              <a:rPr lang="en-US" dirty="0">
                <a:solidFill>
                  <a:schemeClr val="tx1">
                    <a:lumMod val="85000"/>
                    <a:lumOff val="15000"/>
                  </a:schemeClr>
                </a:solidFill>
              </a:rPr>
              <a:t>Developing a questionnaire to ensure that your speech is audience-centered</a:t>
            </a:r>
          </a:p>
        </p:txBody>
      </p:sp>
      <p:pic>
        <p:nvPicPr>
          <p:cNvPr id="7" name="Picture 6">
            <a:extLst>
              <a:ext uri="{FF2B5EF4-FFF2-40B4-BE49-F238E27FC236}">
                <a16:creationId xmlns:a16="http://schemas.microsoft.com/office/drawing/2014/main" id="{9EFC88F3-D58D-9934-34A8-2EDDE6268AC0}"/>
              </a:ext>
            </a:extLst>
          </p:cNvPr>
          <p:cNvPicPr>
            <a:picLocks noChangeAspect="1"/>
          </p:cNvPicPr>
          <p:nvPr/>
        </p:nvPicPr>
        <p:blipFill>
          <a:blip r:embed="rId2"/>
          <a:stretch>
            <a:fillRect/>
          </a:stretch>
        </p:blipFill>
        <p:spPr>
          <a:xfrm>
            <a:off x="635458" y="1306168"/>
            <a:ext cx="3312784" cy="2270559"/>
          </a:xfrm>
          <a:prstGeom prst="rect">
            <a:avLst/>
          </a:prstGeom>
        </p:spPr>
      </p:pic>
      <p:pic>
        <p:nvPicPr>
          <p:cNvPr id="9" name="Picture 8" descr="A close-up of a question&#10;&#10;AI-generated content may be incorrect.">
            <a:extLst>
              <a:ext uri="{FF2B5EF4-FFF2-40B4-BE49-F238E27FC236}">
                <a16:creationId xmlns:a16="http://schemas.microsoft.com/office/drawing/2014/main" id="{02E2E91F-7E8E-EDD5-6B5B-BE1B799906DB}"/>
              </a:ext>
            </a:extLst>
          </p:cNvPr>
          <p:cNvPicPr>
            <a:picLocks noChangeAspect="1"/>
          </p:cNvPicPr>
          <p:nvPr/>
        </p:nvPicPr>
        <p:blipFill>
          <a:blip r:embed="rId3"/>
          <a:stretch>
            <a:fillRect/>
          </a:stretch>
        </p:blipFill>
        <p:spPr>
          <a:xfrm>
            <a:off x="4432872" y="1370027"/>
            <a:ext cx="3312785" cy="2142841"/>
          </a:xfrm>
          <a:prstGeom prst="rect">
            <a:avLst/>
          </a:prstGeom>
        </p:spPr>
      </p:pic>
      <p:pic>
        <p:nvPicPr>
          <p:cNvPr id="11" name="Picture 10" descr="A green and black text&#10;&#10;AI-generated content may be incorrect.">
            <a:extLst>
              <a:ext uri="{FF2B5EF4-FFF2-40B4-BE49-F238E27FC236}">
                <a16:creationId xmlns:a16="http://schemas.microsoft.com/office/drawing/2014/main" id="{579FEB9F-9B6D-936E-E94C-23932A4588ED}"/>
              </a:ext>
            </a:extLst>
          </p:cNvPr>
          <p:cNvPicPr>
            <a:picLocks noChangeAspect="1"/>
          </p:cNvPicPr>
          <p:nvPr/>
        </p:nvPicPr>
        <p:blipFill>
          <a:blip r:embed="rId4"/>
          <a:stretch>
            <a:fillRect/>
          </a:stretch>
        </p:blipFill>
        <p:spPr>
          <a:xfrm>
            <a:off x="8230289" y="1361456"/>
            <a:ext cx="3312784" cy="2159984"/>
          </a:xfrm>
          <a:prstGeom prst="rect">
            <a:avLst/>
          </a:prstGeom>
        </p:spPr>
      </p:pic>
    </p:spTree>
    <p:extLst>
      <p:ext uri="{BB962C8B-B14F-4D97-AF65-F5344CB8AC3E}">
        <p14:creationId xmlns:p14="http://schemas.microsoft.com/office/powerpoint/2010/main" val="2120030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A9E3B9-8999-24F6-158C-27B38CC8F6F8}"/>
              </a:ext>
            </a:extLst>
          </p:cNvPr>
          <p:cNvPicPr>
            <a:picLocks noChangeAspect="1"/>
          </p:cNvPicPr>
          <p:nvPr/>
        </p:nvPicPr>
        <p:blipFill>
          <a:blip r:embed="rId3"/>
          <a:stretch>
            <a:fillRect/>
          </a:stretch>
        </p:blipFill>
        <p:spPr>
          <a:xfrm>
            <a:off x="3276000" y="0"/>
            <a:ext cx="5307333" cy="6760937"/>
          </a:xfrm>
          <a:prstGeom prst="rect">
            <a:avLst/>
          </a:prstGeom>
        </p:spPr>
      </p:pic>
    </p:spTree>
    <p:extLst>
      <p:ext uri="{BB962C8B-B14F-4D97-AF65-F5344CB8AC3E}">
        <p14:creationId xmlns:p14="http://schemas.microsoft.com/office/powerpoint/2010/main" val="1549897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5657-EE2D-10A6-E097-3E2E675088FF}"/>
              </a:ext>
            </a:extLst>
          </p:cNvPr>
          <p:cNvSpPr>
            <a:spLocks noGrp="1"/>
          </p:cNvSpPr>
          <p:nvPr>
            <p:ph type="title"/>
          </p:nvPr>
        </p:nvSpPr>
        <p:spPr/>
        <p:txBody>
          <a:bodyPr>
            <a:normAutofit/>
          </a:bodyPr>
          <a:lstStyle/>
          <a:p>
            <a:r>
              <a:rPr lang="en-US" dirty="0"/>
              <a:t>Activity:</a:t>
            </a:r>
          </a:p>
        </p:txBody>
      </p:sp>
      <p:sp>
        <p:nvSpPr>
          <p:cNvPr id="3" name="Content Placeholder 2">
            <a:extLst>
              <a:ext uri="{FF2B5EF4-FFF2-40B4-BE49-F238E27FC236}">
                <a16:creationId xmlns:a16="http://schemas.microsoft.com/office/drawing/2014/main" id="{95A1E7CB-AA38-2106-24F0-8D11C8BF6B6B}"/>
              </a:ext>
            </a:extLst>
          </p:cNvPr>
          <p:cNvSpPr>
            <a:spLocks noGrp="1"/>
          </p:cNvSpPr>
          <p:nvPr>
            <p:ph idx="1"/>
          </p:nvPr>
        </p:nvSpPr>
        <p:spPr>
          <a:xfrm>
            <a:off x="1097279" y="1845733"/>
            <a:ext cx="6454987" cy="4293809"/>
          </a:xfrm>
        </p:spPr>
        <p:txBody>
          <a:bodyPr>
            <a:normAutofit/>
          </a:bodyPr>
          <a:lstStyle/>
          <a:p>
            <a:r>
              <a:rPr lang="en-US" sz="2800" dirty="0"/>
              <a:t>-You will have 5-7 minutes to create a questionnaire for your topic using Google Forms </a:t>
            </a:r>
          </a:p>
          <a:p>
            <a:r>
              <a:rPr lang="en-US" sz="2800" dirty="0"/>
              <a:t>- You will then post your survey link to Teams and then answer your classmates’ surveys.</a:t>
            </a:r>
          </a:p>
          <a:p>
            <a:r>
              <a:rPr lang="en-US" sz="2800" dirty="0"/>
              <a:t>- Determine if your topic is audience-centered or if you should come-up with a new one?</a:t>
            </a:r>
          </a:p>
        </p:txBody>
      </p:sp>
      <p:pic>
        <p:nvPicPr>
          <p:cNvPr id="1026" name="Picture 2" descr="Importance of Measuring Onboarding: Survey Insights | Cognology">
            <a:extLst>
              <a:ext uri="{FF2B5EF4-FFF2-40B4-BE49-F238E27FC236}">
                <a16:creationId xmlns:a16="http://schemas.microsoft.com/office/drawing/2014/main" id="{18258138-9B9F-0F24-B135-2E10E36A2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6199"/>
          <a:stretch/>
        </p:blipFill>
        <p:spPr bwMode="auto">
          <a:xfrm>
            <a:off x="8020570" y="1916318"/>
            <a:ext cx="3135109" cy="3471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623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DB3CF-DD2C-A44F-1C5E-F409600F3E76}"/>
              </a:ext>
            </a:extLst>
          </p:cNvPr>
          <p:cNvSpPr>
            <a:spLocks noGrp="1"/>
          </p:cNvSpPr>
          <p:nvPr>
            <p:ph type="title"/>
          </p:nvPr>
        </p:nvSpPr>
        <p:spPr/>
        <p:txBody>
          <a:bodyPr/>
          <a:lstStyle/>
          <a:p>
            <a:r>
              <a:rPr lang="en-US" dirty="0"/>
              <a:t>Now you decide…</a:t>
            </a:r>
          </a:p>
        </p:txBody>
      </p:sp>
      <p:sp>
        <p:nvSpPr>
          <p:cNvPr id="3" name="Content Placeholder 2">
            <a:extLst>
              <a:ext uri="{FF2B5EF4-FFF2-40B4-BE49-F238E27FC236}">
                <a16:creationId xmlns:a16="http://schemas.microsoft.com/office/drawing/2014/main" id="{0981B417-F422-C635-8EDC-480B801D62E9}"/>
              </a:ext>
            </a:extLst>
          </p:cNvPr>
          <p:cNvSpPr>
            <a:spLocks noGrp="1"/>
          </p:cNvSpPr>
          <p:nvPr>
            <p:ph idx="1"/>
          </p:nvPr>
        </p:nvSpPr>
        <p:spPr>
          <a:xfrm>
            <a:off x="1097280" y="2338938"/>
            <a:ext cx="10058400" cy="3530155"/>
          </a:xfrm>
        </p:spPr>
        <p:txBody>
          <a:bodyPr>
            <a:normAutofit/>
          </a:bodyPr>
          <a:lstStyle/>
          <a:p>
            <a:r>
              <a:rPr lang="en-US" sz="4000" dirty="0"/>
              <a:t>Based on my audience’s responses, </a:t>
            </a:r>
          </a:p>
          <a:p>
            <a:r>
              <a:rPr lang="en-US" sz="4000" dirty="0"/>
              <a:t>I will --------- my topic because -------</a:t>
            </a:r>
          </a:p>
          <a:p>
            <a:endParaRPr lang="en-US" sz="4000" dirty="0"/>
          </a:p>
          <a:p>
            <a:r>
              <a:rPr lang="en-US" sz="2400" dirty="0"/>
              <a:t>Options for first blank: keep / narrow / change</a:t>
            </a:r>
          </a:p>
        </p:txBody>
      </p:sp>
    </p:spTree>
    <p:extLst>
      <p:ext uri="{BB962C8B-B14F-4D97-AF65-F5344CB8AC3E}">
        <p14:creationId xmlns:p14="http://schemas.microsoft.com/office/powerpoint/2010/main" val="1130022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AB2CE-19AE-3EB7-323B-0AA7EE03C5C9}"/>
              </a:ext>
            </a:extLst>
          </p:cNvPr>
          <p:cNvSpPr>
            <a:spLocks noGrp="1"/>
          </p:cNvSpPr>
          <p:nvPr>
            <p:ph type="title" idx="4294967295"/>
          </p:nvPr>
        </p:nvSpPr>
        <p:spPr>
          <a:xfrm>
            <a:off x="1369181" y="1037696"/>
            <a:ext cx="10058400" cy="4916487"/>
          </a:xfrm>
        </p:spPr>
        <p:txBody>
          <a:bodyPr>
            <a:noAutofit/>
          </a:bodyPr>
          <a:lstStyle/>
          <a:p>
            <a:r>
              <a:rPr lang="en-US" sz="3600" b="0" i="0" u="none" strike="noStrike" baseline="0" dirty="0">
                <a:solidFill>
                  <a:schemeClr val="tx1"/>
                </a:solidFill>
              </a:rPr>
              <a:t>Imagine that you run into a friend on your way to speech class. </a:t>
            </a:r>
            <a:br>
              <a:rPr lang="en-US" sz="3600" b="0" i="0" u="none" strike="noStrike" baseline="0" dirty="0">
                <a:solidFill>
                  <a:schemeClr val="tx1"/>
                </a:solidFill>
              </a:rPr>
            </a:br>
            <a:br>
              <a:rPr lang="en-US" sz="3600" b="0" i="0" u="none" strike="noStrike" baseline="0" dirty="0">
                <a:solidFill>
                  <a:schemeClr val="tx1"/>
                </a:solidFill>
              </a:rPr>
            </a:br>
            <a:r>
              <a:rPr lang="en-US" sz="3600" b="0" i="0" u="none" strike="noStrike" baseline="0" dirty="0">
                <a:solidFill>
                  <a:schemeClr val="tx1"/>
                </a:solidFill>
              </a:rPr>
              <a:t>She says, “I have to dash to my history lecture, but I hear you’re giving a speech today. Can you tell me the gist of it in one sentence?” </a:t>
            </a:r>
            <a:br>
              <a:rPr lang="en-US" sz="3600" b="0" i="0" u="none" strike="noStrike" baseline="0" dirty="0">
                <a:solidFill>
                  <a:schemeClr val="tx1"/>
                </a:solidFill>
              </a:rPr>
            </a:br>
            <a:br>
              <a:rPr lang="en-US" sz="3600" b="0" i="0" u="none" strike="noStrike" baseline="0" dirty="0">
                <a:solidFill>
                  <a:schemeClr val="tx1"/>
                </a:solidFill>
              </a:rPr>
            </a:br>
            <a:r>
              <a:rPr lang="en-US" sz="3600" b="0" i="0" u="none" strike="noStrike" baseline="0" dirty="0">
                <a:solidFill>
                  <a:schemeClr val="tx1"/>
                </a:solidFill>
              </a:rPr>
              <a:t>“Sure,” you reply. “America’s prison system suffers from three major problems—overcrowding of inmates, lack of effective rehabilitation programs, and high expense to taxpayers.”</a:t>
            </a:r>
            <a:endParaRPr lang="en-US" sz="3600" dirty="0">
              <a:solidFill>
                <a:schemeClr val="tx1"/>
              </a:solidFill>
            </a:endParaRPr>
          </a:p>
        </p:txBody>
      </p:sp>
    </p:spTree>
    <p:extLst>
      <p:ext uri="{BB962C8B-B14F-4D97-AF65-F5344CB8AC3E}">
        <p14:creationId xmlns:p14="http://schemas.microsoft.com/office/powerpoint/2010/main" val="3928195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85C1AC7-2980-D9C3-D1CA-CEDF03EF712F}"/>
              </a:ext>
            </a:extLst>
          </p:cNvPr>
          <p:cNvSpPr>
            <a:spLocks noGrp="1"/>
          </p:cNvSpPr>
          <p:nvPr>
            <p:ph idx="4294967295"/>
          </p:nvPr>
        </p:nvSpPr>
        <p:spPr>
          <a:xfrm>
            <a:off x="1127276" y="1278316"/>
            <a:ext cx="10058400" cy="4022725"/>
          </a:xfrm>
        </p:spPr>
        <p:txBody>
          <a:bodyPr>
            <a:normAutofit/>
          </a:bodyPr>
          <a:lstStyle/>
          <a:p>
            <a:r>
              <a:rPr lang="en-US" sz="3600" dirty="0"/>
              <a:t>Your answer is the central idea of your speech. It is more precise than your topic (America’s prison system) or your specific purpose statement (“To inform my audience of the three major problems facing America’s prison system”). By stating exactly what the three major problems are, the central idea sums up your speech in a single sentence.</a:t>
            </a:r>
          </a:p>
        </p:txBody>
      </p:sp>
    </p:spTree>
    <p:extLst>
      <p:ext uri="{BB962C8B-B14F-4D97-AF65-F5344CB8AC3E}">
        <p14:creationId xmlns:p14="http://schemas.microsoft.com/office/powerpoint/2010/main" val="754406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3B1B2-DDDE-EA32-DAA0-422E20F4AF4A}"/>
              </a:ext>
            </a:extLst>
          </p:cNvPr>
          <p:cNvSpPr>
            <a:spLocks noGrp="1"/>
          </p:cNvSpPr>
          <p:nvPr>
            <p:ph type="title"/>
          </p:nvPr>
        </p:nvSpPr>
        <p:spPr/>
        <p:txBody>
          <a:bodyPr>
            <a:normAutofit/>
          </a:bodyPr>
          <a:lstStyle/>
          <a:p>
            <a:r>
              <a:rPr lang="en-US" dirty="0"/>
              <a:t>Exercise:</a:t>
            </a:r>
          </a:p>
        </p:txBody>
      </p:sp>
      <p:sp>
        <p:nvSpPr>
          <p:cNvPr id="3" name="Content Placeholder 2">
            <a:extLst>
              <a:ext uri="{FF2B5EF4-FFF2-40B4-BE49-F238E27FC236}">
                <a16:creationId xmlns:a16="http://schemas.microsoft.com/office/drawing/2014/main" id="{6381E0D3-7A79-E898-39C2-B29242DED1E9}"/>
              </a:ext>
            </a:extLst>
          </p:cNvPr>
          <p:cNvSpPr>
            <a:spLocks noGrp="1"/>
          </p:cNvSpPr>
          <p:nvPr>
            <p:ph idx="1"/>
          </p:nvPr>
        </p:nvSpPr>
        <p:spPr/>
        <p:txBody>
          <a:bodyPr>
            <a:normAutofit/>
          </a:bodyPr>
          <a:lstStyle/>
          <a:p>
            <a:r>
              <a:rPr lang="en-US" sz="2800" dirty="0"/>
              <a:t>Identify the problem with each central idea and figure out how each might be phrased more effectively.</a:t>
            </a:r>
          </a:p>
          <a:p>
            <a:endParaRPr lang="en-US" sz="2800" dirty="0"/>
          </a:p>
          <a:p>
            <a:pPr algn="l"/>
            <a:r>
              <a:rPr lang="en-US" sz="2800" b="0" i="1" u="none" strike="noStrike" baseline="0" dirty="0"/>
              <a:t>Ineffective: </a:t>
            </a:r>
            <a:r>
              <a:rPr lang="en-US" sz="2800" b="0" i="0" u="none" strike="noStrike" baseline="0" dirty="0"/>
              <a:t>Paying college athletes a monthly stipend is a good idea.</a:t>
            </a:r>
          </a:p>
          <a:p>
            <a:pPr algn="l"/>
            <a:r>
              <a:rPr lang="en-US" sz="2800" b="0" i="1" u="none" strike="noStrike" baseline="0" dirty="0"/>
              <a:t>Ineffective: </a:t>
            </a:r>
            <a:r>
              <a:rPr lang="en-US" sz="2800" b="0" i="0" u="none" strike="noStrike" baseline="0" dirty="0"/>
              <a:t>Problems of fad diets.</a:t>
            </a:r>
          </a:p>
          <a:p>
            <a:pPr algn="l"/>
            <a:r>
              <a:rPr lang="en-US" sz="2800" b="0" i="1" u="none" strike="noStrike" baseline="0" dirty="0"/>
              <a:t>Ineffective: </a:t>
            </a:r>
            <a:r>
              <a:rPr lang="en-US" sz="2800" b="0" i="0" u="none" strike="noStrike" baseline="0" dirty="0"/>
              <a:t>What are nanorobots?</a:t>
            </a:r>
          </a:p>
          <a:p>
            <a:pPr algn="l"/>
            <a:r>
              <a:rPr lang="en-US" sz="2800" b="0" i="1" u="none" strike="noStrike" baseline="0" dirty="0"/>
              <a:t>Ineffective: </a:t>
            </a:r>
            <a:r>
              <a:rPr lang="en-US" sz="2800" b="0" i="0" u="none" strike="noStrike" baseline="0" dirty="0"/>
              <a:t>South Africa is an awesome place for a vacation.</a:t>
            </a:r>
            <a:endParaRPr lang="en-US" sz="2800" dirty="0"/>
          </a:p>
        </p:txBody>
      </p:sp>
    </p:spTree>
    <p:extLst>
      <p:ext uri="{BB962C8B-B14F-4D97-AF65-F5344CB8AC3E}">
        <p14:creationId xmlns:p14="http://schemas.microsoft.com/office/powerpoint/2010/main" val="4092658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76A1-243F-A7E2-ED7A-0FFEABB4635D}"/>
              </a:ext>
            </a:extLst>
          </p:cNvPr>
          <p:cNvSpPr>
            <a:spLocks noGrp="1"/>
          </p:cNvSpPr>
          <p:nvPr>
            <p:ph type="title"/>
          </p:nvPr>
        </p:nvSpPr>
        <p:spPr>
          <a:xfrm>
            <a:off x="5544457" y="-972457"/>
            <a:ext cx="6318551" cy="2051837"/>
          </a:xfrm>
        </p:spPr>
        <p:txBody>
          <a:bodyPr>
            <a:normAutofit/>
          </a:bodyPr>
          <a:lstStyle/>
          <a:p>
            <a:r>
              <a:rPr lang="en-US" dirty="0"/>
              <a:t>What is the Central Idea?</a:t>
            </a:r>
          </a:p>
        </p:txBody>
      </p:sp>
      <p:sp>
        <p:nvSpPr>
          <p:cNvPr id="3" name="Content Placeholder 2">
            <a:extLst>
              <a:ext uri="{FF2B5EF4-FFF2-40B4-BE49-F238E27FC236}">
                <a16:creationId xmlns:a16="http://schemas.microsoft.com/office/drawing/2014/main" id="{F862AE1E-5897-28EE-33A3-7FDC94FA9F04}"/>
              </a:ext>
            </a:extLst>
          </p:cNvPr>
          <p:cNvSpPr>
            <a:spLocks noGrp="1"/>
          </p:cNvSpPr>
          <p:nvPr>
            <p:ph idx="1"/>
          </p:nvPr>
        </p:nvSpPr>
        <p:spPr>
          <a:xfrm>
            <a:off x="6411684" y="2198914"/>
            <a:ext cx="5127172" cy="3670180"/>
          </a:xfrm>
        </p:spPr>
        <p:txBody>
          <a:bodyPr>
            <a:normAutofit/>
          </a:bodyPr>
          <a:lstStyle/>
          <a:p>
            <a:r>
              <a:rPr lang="en-US" sz="2800" b="0" i="0" u="none" strike="noStrike" baseline="0" dirty="0"/>
              <a:t>The specific purpose of a speech is what you hope to accomplish. The </a:t>
            </a:r>
            <a:r>
              <a:rPr lang="en-US" sz="2800" b="0" i="1" u="none" strike="noStrike" baseline="0" dirty="0"/>
              <a:t>central idea </a:t>
            </a:r>
            <a:r>
              <a:rPr lang="en-US" sz="2800" b="0" i="0" u="none" strike="noStrike" baseline="0" dirty="0"/>
              <a:t>is a concise statement of what you </a:t>
            </a:r>
            <a:r>
              <a:rPr lang="en-US" sz="2800" b="0" i="1" u="none" strike="noStrike" baseline="0" dirty="0"/>
              <a:t>expect to say. </a:t>
            </a:r>
            <a:r>
              <a:rPr lang="en-US" sz="2800" b="0" i="0" u="none" strike="noStrike" baseline="0" dirty="0"/>
              <a:t>Sometimes it is called the thesis statement, the subject sentence, or the major thought.</a:t>
            </a:r>
            <a:endParaRPr lang="en-US" sz="2800" dirty="0"/>
          </a:p>
        </p:txBody>
      </p:sp>
      <p:pic>
        <p:nvPicPr>
          <p:cNvPr id="5" name="Picture 4" descr="A magnifying glass over a newspaper&#10;&#10;AI-generated content may be incorrect.">
            <a:extLst>
              <a:ext uri="{FF2B5EF4-FFF2-40B4-BE49-F238E27FC236}">
                <a16:creationId xmlns:a16="http://schemas.microsoft.com/office/drawing/2014/main" id="{3EFB308C-C629-14D7-EDD6-038FFC52EB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92" y="1456314"/>
            <a:ext cx="5451627" cy="3625331"/>
          </a:xfrm>
          <a:prstGeom prst="rect">
            <a:avLst/>
          </a:prstGeom>
        </p:spPr>
      </p:pic>
    </p:spTree>
    <p:extLst>
      <p:ext uri="{BB962C8B-B14F-4D97-AF65-F5344CB8AC3E}">
        <p14:creationId xmlns:p14="http://schemas.microsoft.com/office/powerpoint/2010/main" val="329872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59EDB0-41AF-9B77-6087-6365452A4363}"/>
              </a:ext>
            </a:extLst>
          </p:cNvPr>
          <p:cNvPicPr>
            <a:picLocks noChangeAspect="1"/>
          </p:cNvPicPr>
          <p:nvPr/>
        </p:nvPicPr>
        <p:blipFill>
          <a:blip r:embed="rId2"/>
          <a:stretch>
            <a:fillRect/>
          </a:stretch>
        </p:blipFill>
        <p:spPr>
          <a:xfrm>
            <a:off x="0" y="30892"/>
            <a:ext cx="12192000" cy="6796216"/>
          </a:xfrm>
          <a:prstGeom prst="rect">
            <a:avLst/>
          </a:prstGeom>
        </p:spPr>
      </p:pic>
    </p:spTree>
    <p:extLst>
      <p:ext uri="{BB962C8B-B14F-4D97-AF65-F5344CB8AC3E}">
        <p14:creationId xmlns:p14="http://schemas.microsoft.com/office/powerpoint/2010/main" val="142289000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64EA000E02C4145A6226138A99A1511" ma:contentTypeVersion="3" ma:contentTypeDescription="Create a new document." ma:contentTypeScope="" ma:versionID="bc4419da51b6618306313ffa484fecd9">
  <xsd:schema xmlns:xsd="http://www.w3.org/2001/XMLSchema" xmlns:xs="http://www.w3.org/2001/XMLSchema" xmlns:p="http://schemas.microsoft.com/office/2006/metadata/properties" xmlns:ns2="31fd403b-1096-40e4-b72b-dc00d95509fe" targetNamespace="http://schemas.microsoft.com/office/2006/metadata/properties" ma:root="true" ma:fieldsID="e71713b955cc6b7349fbc4946c82b0cf" ns2:_="">
    <xsd:import namespace="31fd403b-1096-40e4-b72b-dc00d95509f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fd403b-1096-40e4-b72b-dc00d95509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F6AD98-0117-4B4F-9823-BBBD0480A77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77F1B6D-EB01-47CE-9612-521E2F2C3380}">
  <ds:schemaRefs>
    <ds:schemaRef ds:uri="http://schemas.microsoft.com/sharepoint/v3/contenttype/forms"/>
  </ds:schemaRefs>
</ds:datastoreItem>
</file>

<file path=customXml/itemProps3.xml><?xml version="1.0" encoding="utf-8"?>
<ds:datastoreItem xmlns:ds="http://schemas.openxmlformats.org/officeDocument/2006/customXml" ds:itemID="{DD3EA34C-C805-4406-888D-39DD9CE3A57D}"/>
</file>

<file path=docProps/app.xml><?xml version="1.0" encoding="utf-8"?>
<Properties xmlns="http://schemas.openxmlformats.org/officeDocument/2006/extended-properties" xmlns:vt="http://schemas.openxmlformats.org/officeDocument/2006/docPropsVTypes">
  <Template>Retrospect</Template>
  <TotalTime>550</TotalTime>
  <Words>1258</Words>
  <Application>Microsoft Office PowerPoint</Application>
  <PresentationFormat>Widescreen</PresentationFormat>
  <Paragraphs>97</Paragraphs>
  <Slides>29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Calibri</vt:lpstr>
      <vt:lpstr>Calibri Light</vt:lpstr>
      <vt:lpstr>Retrospect</vt:lpstr>
      <vt:lpstr>   Communication Skills for Engineers (COMM 402-EC10)  Week 3 – Sessions 5&amp;6</vt:lpstr>
      <vt:lpstr>General Purpose of a Speech</vt:lpstr>
      <vt:lpstr>PowerPoint Presentation</vt:lpstr>
      <vt:lpstr>Informative Speech</vt:lpstr>
      <vt:lpstr>Types of Informative Speeches  Speeches about Objects</vt:lpstr>
      <vt:lpstr>Speeches about Processes</vt:lpstr>
      <vt:lpstr>Speeches about Events</vt:lpstr>
      <vt:lpstr>Speeches about Concepts</vt:lpstr>
      <vt:lpstr>Topic: “Electrical Vehicle”</vt:lpstr>
      <vt:lpstr>Free-Writing Activity</vt:lpstr>
      <vt:lpstr>When selecting a topic, follow the motto:  “Teach me something new!”  (should be related to your major) </vt:lpstr>
      <vt:lpstr>Establish:  Topic:  General Purpose:    Specific Purpose:</vt:lpstr>
      <vt:lpstr>Example:   Topic: Electric Vehicles  General Purpose: To inform  Specific Purpose: To inform my audience how electric vehicles are constructed.</vt:lpstr>
      <vt:lpstr>Example:   Topic: Artificial Intelligence  General Purpose: To inform  Specific Purpose: To inform my audience about artificial intelligence.</vt:lpstr>
      <vt:lpstr>Example:   Topic: Music Therapy  General Purpose: To inform  Specific Purpose: To inform my audience how music therapy helps people with psychological or cognitive disabilities.</vt:lpstr>
      <vt:lpstr>Example:  Topic: Cybersecurity  General Purpose: To inform</vt:lpstr>
      <vt:lpstr>Exercise</vt:lpstr>
      <vt:lpstr>Informative Speech Example</vt:lpstr>
      <vt:lpstr>Same Topic, Different Audience</vt:lpstr>
      <vt:lpstr>Write your specific purpose</vt:lpstr>
      <vt:lpstr>Getting to know your audience – Developing a questionnaire to ensure that your speech is audience-centered</vt:lpstr>
      <vt:lpstr>PowerPoint Presentation</vt:lpstr>
      <vt:lpstr>Activity:</vt:lpstr>
      <vt:lpstr>Now you decide…</vt:lpstr>
      <vt:lpstr>Imagine that you run into a friend on your way to speech class.   She says, “I have to dash to my history lecture, but I hear you’re giving a speech today. Can you tell me the gist of it in one sentence?”   “Sure,” you reply. “America’s prison system suffers from three major problems—overcrowding of inmates, lack of effective rehabilitation programs, and high expense to taxpayers.”</vt:lpstr>
      <vt:lpstr>PowerPoint Presentation</vt:lpstr>
      <vt:lpstr>Exercise:</vt:lpstr>
      <vt:lpstr>What is the Central Idea?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Stefany SALEMEH</dc:creator>
  <cp:lastModifiedBy>Stefany Salemeh</cp:lastModifiedBy>
  <cp:revision>14</cp:revision>
  <dcterms:created xsi:type="dcterms:W3CDTF">2025-02-18T18:08:06Z</dcterms:created>
  <dcterms:modified xsi:type="dcterms:W3CDTF">2026-02-13T09:29:05Z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0x010100C64EA000E02C4145A6226138A99A1511</vt:lpwstr>
  </property>
</Properties>
</file>