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3"/>
  </p:notesMasterIdLst>
  <p:sldIdLst>
    <p:sldId id="270" r:id="rId5"/>
    <p:sldId id="275" r:id="rId6"/>
    <p:sldId id="276" r:id="rId7"/>
    <p:sldId id="277" r:id="rId8"/>
    <p:sldId id="293" r:id="rId9"/>
    <p:sldId id="294" r:id="rId10"/>
    <p:sldId id="278" r:id="rId11"/>
    <p:sldId id="283" r:id="rId12"/>
    <p:sldId id="274" r:id="rId13"/>
    <p:sldId id="279" r:id="rId14"/>
    <p:sldId id="281" r:id="rId15"/>
    <p:sldId id="282" r:id="rId16"/>
    <p:sldId id="284" r:id="rId17"/>
    <p:sldId id="286" r:id="rId18"/>
    <p:sldId id="288" r:id="rId19"/>
    <p:sldId id="289" r:id="rId20"/>
    <p:sldId id="291" r:id="rId21"/>
    <p:sldId id="29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40" autoAdjust="0"/>
    <p:restoredTop sz="94660"/>
  </p:normalViewPr>
  <p:slideViewPr>
    <p:cSldViewPr snapToGrid="0">
      <p:cViewPr varScale="1">
        <p:scale>
          <a:sx n="66" d="100"/>
          <a:sy n="66" d="100"/>
        </p:scale>
        <p:origin x="79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1T23:28:45.858"/>
    </inkml:context>
    <inkml:brush xml:id="br0">
      <inkml:brushProperty name="width" value="0.35" units="cm"/>
      <inkml:brushProperty name="height" value="0.35" units="cm"/>
      <inkml:brushProperty name="color" value="#E71224"/>
      <inkml:brushProperty name="ignorePressure" value="1"/>
    </inkml:brush>
  </inkml:definitions>
  <inkml:trace contextRef="#ctx0" brushRef="#br0">0 1,'3039'13163,"-2013"-8718,-770-3338,-247-1069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1T23:29:07.928"/>
    </inkml:context>
    <inkml:brush xml:id="br0">
      <inkml:brushProperty name="width" value="0.35" units="cm"/>
      <inkml:brushProperty name="height" value="0.35" units="cm"/>
      <inkml:brushProperty name="color" value="#E71224"/>
      <inkml:brushProperty name="ignorePressure" value="1"/>
    </inkml:brush>
  </inkml:definitions>
  <inkml:trace contextRef="#ctx0" brushRef="#br0">2275 0,'-1879'13372,"1484"-10561,396-2816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310C7C-5A38-481D-BBF6-EB566E3561F0}" type="datetimeFigureOut">
              <a:rPr lang="en-US" smtClean="0"/>
              <a:t>2/25/2026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9F8A2A-3ECB-428C-AEEB-C62979F49A50}" type="slidenum">
              <a:rPr lang="en-US" smtClean="0"/>
              <a:t>‹#›</a:t>
            </a:fld>
            <a:endParaRPr lang="en-US"/>
          </a:p>
        </p:txBody>
      </p:sp>
    </p:spTree>
    <p:extLst>
      <p:ext uri="{BB962C8B-B14F-4D97-AF65-F5344CB8AC3E}">
        <p14:creationId xmlns:p14="http://schemas.microsoft.com/office/powerpoint/2010/main" val="2945579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9F8A2A-3ECB-428C-AEEB-C62979F49A50}" type="slidenum">
              <a:rPr lang="en-US" smtClean="0"/>
              <a:t>2</a:t>
            </a:fld>
            <a:endParaRPr lang="en-US"/>
          </a:p>
        </p:txBody>
      </p:sp>
    </p:spTree>
    <p:extLst>
      <p:ext uri="{BB962C8B-B14F-4D97-AF65-F5344CB8AC3E}">
        <p14:creationId xmlns:p14="http://schemas.microsoft.com/office/powerpoint/2010/main" val="22422940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98B6A09-B37B-4280-A81E-A0A647834A62}"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B2277B-B7A1-4254-892E-784CEF5C284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1136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8B6A09-B37B-4280-A81E-A0A647834A62}"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B2277B-B7A1-4254-892E-784CEF5C284F}" type="slidenum">
              <a:rPr lang="en-US" smtClean="0"/>
              <a:t>‹#›</a:t>
            </a:fld>
            <a:endParaRPr lang="en-US"/>
          </a:p>
        </p:txBody>
      </p:sp>
    </p:spTree>
    <p:extLst>
      <p:ext uri="{BB962C8B-B14F-4D97-AF65-F5344CB8AC3E}">
        <p14:creationId xmlns:p14="http://schemas.microsoft.com/office/powerpoint/2010/main" val="2675711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8B6A09-B37B-4280-A81E-A0A647834A62}"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B2277B-B7A1-4254-892E-784CEF5C284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3218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8B6A09-B37B-4280-A81E-A0A647834A62}"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B2277B-B7A1-4254-892E-784CEF5C284F}" type="slidenum">
              <a:rPr lang="en-US" smtClean="0"/>
              <a:t>‹#›</a:t>
            </a:fld>
            <a:endParaRPr lang="en-US"/>
          </a:p>
        </p:txBody>
      </p:sp>
    </p:spTree>
    <p:extLst>
      <p:ext uri="{BB962C8B-B14F-4D97-AF65-F5344CB8AC3E}">
        <p14:creationId xmlns:p14="http://schemas.microsoft.com/office/powerpoint/2010/main" val="3224886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8B6A09-B37B-4280-A81E-A0A647834A62}" type="datetimeFigureOut">
              <a:rPr lang="en-US" smtClean="0"/>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B2277B-B7A1-4254-892E-784CEF5C284F}" type="slidenum">
              <a:rPr lang="en-US" smtClean="0"/>
              <a:t>‹#›</a:t>
            </a:fld>
            <a:endParaRPr lang="en-US"/>
          </a:p>
        </p:txBody>
      </p:sp>
    </p:spTree>
    <p:extLst>
      <p:ext uri="{BB962C8B-B14F-4D97-AF65-F5344CB8AC3E}">
        <p14:creationId xmlns:p14="http://schemas.microsoft.com/office/powerpoint/2010/main" val="524069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8B6A09-B37B-4280-A81E-A0A647834A62}" type="datetimeFigureOut">
              <a:rPr lang="en-US" smtClean="0"/>
              <a:t>2/25/2026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B2277B-B7A1-4254-892E-784CEF5C284F}" type="slidenum">
              <a:rPr lang="en-US" smtClean="0"/>
              <a:t>‹#›</a:t>
            </a:fld>
            <a:endParaRPr lang="en-US"/>
          </a:p>
        </p:txBody>
      </p:sp>
    </p:spTree>
    <p:extLst>
      <p:ext uri="{BB962C8B-B14F-4D97-AF65-F5344CB8AC3E}">
        <p14:creationId xmlns:p14="http://schemas.microsoft.com/office/powerpoint/2010/main" val="2835227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98B6A09-B37B-4280-A81E-A0A647834A62}" type="datetimeFigureOut">
              <a:rPr lang="en-US" smtClean="0"/>
              <a:t>2/25/2026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4B2277B-B7A1-4254-892E-784CEF5C284F}" type="slidenum">
              <a:rPr lang="en-US" smtClean="0"/>
              <a:t>‹#›</a:t>
            </a:fld>
            <a:endParaRPr lang="en-US"/>
          </a:p>
        </p:txBody>
      </p:sp>
    </p:spTree>
    <p:extLst>
      <p:ext uri="{BB962C8B-B14F-4D97-AF65-F5344CB8AC3E}">
        <p14:creationId xmlns:p14="http://schemas.microsoft.com/office/powerpoint/2010/main" val="3801253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98B6A09-B37B-4280-A81E-A0A647834A62}" type="datetimeFigureOut">
              <a:rPr lang="en-US" smtClean="0"/>
              <a:t>2/25/2026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4B2277B-B7A1-4254-892E-784CEF5C284F}" type="slidenum">
              <a:rPr lang="en-US" smtClean="0"/>
              <a:t>‹#›</a:t>
            </a:fld>
            <a:endParaRPr lang="en-US"/>
          </a:p>
        </p:txBody>
      </p:sp>
    </p:spTree>
    <p:extLst>
      <p:ext uri="{BB962C8B-B14F-4D97-AF65-F5344CB8AC3E}">
        <p14:creationId xmlns:p14="http://schemas.microsoft.com/office/powerpoint/2010/main" val="2856469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8B6A09-B37B-4280-A81E-A0A647834A62}"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B2277B-B7A1-4254-892E-784CEF5C284F}" type="slidenum">
              <a:rPr lang="en-US" smtClean="0"/>
              <a:t>‹#›</a:t>
            </a:fld>
            <a:endParaRPr lang="en-US"/>
          </a:p>
        </p:txBody>
      </p:sp>
    </p:spTree>
    <p:extLst>
      <p:ext uri="{BB962C8B-B14F-4D97-AF65-F5344CB8AC3E}">
        <p14:creationId xmlns:p14="http://schemas.microsoft.com/office/powerpoint/2010/main" val="1628153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8B6A09-B37B-4280-A81E-A0A647834A62}"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B2277B-B7A1-4254-892E-784CEF5C284F}" type="slidenum">
              <a:rPr lang="en-US" smtClean="0"/>
              <a:t>‹#›</a:t>
            </a:fld>
            <a:endParaRPr lang="en-US"/>
          </a:p>
        </p:txBody>
      </p:sp>
    </p:spTree>
    <p:extLst>
      <p:ext uri="{BB962C8B-B14F-4D97-AF65-F5344CB8AC3E}">
        <p14:creationId xmlns:p14="http://schemas.microsoft.com/office/powerpoint/2010/main" val="2357652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8B6A09-B37B-4280-A81E-A0A647834A62}"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B2277B-B7A1-4254-892E-784CEF5C284F}" type="slidenum">
              <a:rPr lang="en-US" smtClean="0"/>
              <a:t>‹#›</a:t>
            </a:fld>
            <a:endParaRPr lang="en-US"/>
          </a:p>
        </p:txBody>
      </p:sp>
    </p:spTree>
    <p:extLst>
      <p:ext uri="{BB962C8B-B14F-4D97-AF65-F5344CB8AC3E}">
        <p14:creationId xmlns:p14="http://schemas.microsoft.com/office/powerpoint/2010/main" val="3275535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98B6A09-B37B-4280-A81E-A0A647834A62}" type="datetimeFigureOut">
              <a:rPr lang="en-US" smtClean="0"/>
              <a:t>2/25/2026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4B2277B-B7A1-4254-892E-784CEF5C284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2348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customXml" Target="../ink/ink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E95D6-132D-9D28-67BE-4350AC77D55F}"/>
              </a:ext>
            </a:extLst>
          </p:cNvPr>
          <p:cNvSpPr>
            <a:spLocks noGrp="1"/>
          </p:cNvSpPr>
          <p:nvPr>
            <p:ph type="ctrTitle"/>
          </p:nvPr>
        </p:nvSpPr>
        <p:spPr>
          <a:xfrm>
            <a:off x="1097280" y="758952"/>
            <a:ext cx="11203388" cy="3566160"/>
          </a:xfrm>
        </p:spPr>
        <p:txBody>
          <a:bodyPr>
            <a:normAutofit fontScale="90000"/>
          </a:bodyPr>
          <a:lstStyle/>
          <a:p>
            <a:br>
              <a:rPr lang="en-US" dirty="0"/>
            </a:br>
            <a:br>
              <a:rPr lang="en-US" dirty="0"/>
            </a:br>
            <a:br>
              <a:rPr lang="en-US" dirty="0"/>
            </a:br>
            <a:r>
              <a:rPr lang="en-US" dirty="0"/>
              <a:t>Communication Skills for Engineers (COMM 402-EC10)</a:t>
            </a:r>
            <a:br>
              <a:rPr lang="en-US" dirty="0"/>
            </a:br>
            <a:br>
              <a:rPr lang="en-US" dirty="0"/>
            </a:br>
            <a:r>
              <a:rPr lang="en-US" dirty="0"/>
              <a:t>Week 5 </a:t>
            </a:r>
            <a:r>
              <a:rPr lang="en-US"/>
              <a:t>– Session </a:t>
            </a:r>
            <a:r>
              <a:rPr lang="en-US" dirty="0"/>
              <a:t>9</a:t>
            </a:r>
          </a:p>
        </p:txBody>
      </p:sp>
      <p:sp>
        <p:nvSpPr>
          <p:cNvPr id="3" name="Subtitle 2">
            <a:extLst>
              <a:ext uri="{FF2B5EF4-FFF2-40B4-BE49-F238E27FC236}">
                <a16:creationId xmlns:a16="http://schemas.microsoft.com/office/drawing/2014/main" id="{8A24731D-56A4-66D7-2072-34B985288C67}"/>
              </a:ext>
            </a:extLst>
          </p:cNvPr>
          <p:cNvSpPr>
            <a:spLocks noGrp="1"/>
          </p:cNvSpPr>
          <p:nvPr>
            <p:ph type="subTitle" idx="1"/>
          </p:nvPr>
        </p:nvSpPr>
        <p:spPr/>
        <p:txBody>
          <a:bodyPr/>
          <a:lstStyle/>
          <a:p>
            <a:r>
              <a:rPr lang="en-US" dirty="0"/>
              <a:t>Prepared by Stefany Salemeh</a:t>
            </a:r>
          </a:p>
        </p:txBody>
      </p:sp>
    </p:spTree>
    <p:extLst>
      <p:ext uri="{BB962C8B-B14F-4D97-AF65-F5344CB8AC3E}">
        <p14:creationId xmlns:p14="http://schemas.microsoft.com/office/powerpoint/2010/main" val="2631469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D00EE-8AC3-D921-9EF8-729B3099964E}"/>
              </a:ext>
            </a:extLst>
          </p:cNvPr>
          <p:cNvSpPr>
            <a:spLocks noGrp="1"/>
          </p:cNvSpPr>
          <p:nvPr>
            <p:ph type="title" idx="4294967295"/>
          </p:nvPr>
        </p:nvSpPr>
        <p:spPr>
          <a:xfrm>
            <a:off x="228600" y="154623"/>
            <a:ext cx="7802563" cy="781050"/>
          </a:xfrm>
        </p:spPr>
        <p:txBody>
          <a:bodyPr/>
          <a:lstStyle/>
          <a:p>
            <a:r>
              <a:rPr lang="en-US" b="1" dirty="0"/>
              <a:t>Parts of the Informative Speech</a:t>
            </a:r>
          </a:p>
        </p:txBody>
      </p:sp>
      <p:sp>
        <p:nvSpPr>
          <p:cNvPr id="3" name="Content Placeholder 2">
            <a:extLst>
              <a:ext uri="{FF2B5EF4-FFF2-40B4-BE49-F238E27FC236}">
                <a16:creationId xmlns:a16="http://schemas.microsoft.com/office/drawing/2014/main" id="{08A81965-DC31-A745-61A7-14C2E17F63B2}"/>
              </a:ext>
            </a:extLst>
          </p:cNvPr>
          <p:cNvSpPr>
            <a:spLocks noGrp="1"/>
          </p:cNvSpPr>
          <p:nvPr>
            <p:ph idx="4294967295"/>
          </p:nvPr>
        </p:nvSpPr>
        <p:spPr>
          <a:xfrm>
            <a:off x="350520" y="998220"/>
            <a:ext cx="11452860" cy="6515100"/>
          </a:xfrm>
        </p:spPr>
        <p:txBody>
          <a:bodyPr numCol="2">
            <a:normAutofit lnSpcReduction="10000"/>
          </a:bodyPr>
          <a:lstStyle/>
          <a:p>
            <a:pPr marL="0" indent="0">
              <a:buNone/>
            </a:pPr>
            <a:r>
              <a:rPr lang="en-US" sz="3000" b="1" dirty="0"/>
              <a:t>Introduction:</a:t>
            </a:r>
          </a:p>
          <a:p>
            <a:pPr>
              <a:buFontTx/>
              <a:buChar char="-"/>
            </a:pPr>
            <a:r>
              <a:rPr lang="en-US" sz="3000" dirty="0"/>
              <a:t>Attention grabber</a:t>
            </a:r>
          </a:p>
          <a:p>
            <a:pPr>
              <a:buFontTx/>
              <a:buChar char="-"/>
            </a:pPr>
            <a:r>
              <a:rPr lang="en-US" sz="3000" dirty="0"/>
              <a:t>Introduce the topic</a:t>
            </a:r>
          </a:p>
          <a:p>
            <a:pPr>
              <a:buFontTx/>
              <a:buChar char="-"/>
            </a:pPr>
            <a:r>
              <a:rPr lang="en-US" sz="3000" dirty="0"/>
              <a:t>Establish credibility</a:t>
            </a:r>
          </a:p>
          <a:p>
            <a:pPr>
              <a:buFontTx/>
              <a:buChar char="-"/>
            </a:pPr>
            <a:r>
              <a:rPr lang="en-US" sz="3000" dirty="0"/>
              <a:t>Relate to audience</a:t>
            </a:r>
          </a:p>
          <a:p>
            <a:pPr>
              <a:buFontTx/>
              <a:buChar char="-"/>
            </a:pPr>
            <a:r>
              <a:rPr lang="en-US" sz="3000" dirty="0"/>
              <a:t>Central idea (preview the body of the speech)</a:t>
            </a:r>
          </a:p>
          <a:p>
            <a:pPr>
              <a:buFontTx/>
              <a:buChar char="-"/>
            </a:pPr>
            <a:endParaRPr lang="en-US" sz="3000" dirty="0"/>
          </a:p>
          <a:p>
            <a:pPr>
              <a:buFontTx/>
              <a:buChar char="-"/>
            </a:pPr>
            <a:endParaRPr lang="en-US" sz="3000" dirty="0"/>
          </a:p>
          <a:p>
            <a:pPr>
              <a:buFontTx/>
              <a:buChar char="-"/>
            </a:pPr>
            <a:endParaRPr lang="en-US" sz="3000" dirty="0"/>
          </a:p>
          <a:p>
            <a:pPr>
              <a:buFontTx/>
              <a:buChar char="-"/>
            </a:pPr>
            <a:endParaRPr lang="en-US" sz="3000" dirty="0"/>
          </a:p>
          <a:p>
            <a:pPr marL="0" indent="0">
              <a:buNone/>
            </a:pPr>
            <a:endParaRPr lang="en-US" sz="3000" dirty="0"/>
          </a:p>
          <a:p>
            <a:pPr marL="0" indent="0">
              <a:buNone/>
            </a:pPr>
            <a:r>
              <a:rPr lang="en-US" sz="3000" b="1" dirty="0"/>
              <a:t>Body:</a:t>
            </a:r>
            <a:endParaRPr lang="en-US" sz="3000" dirty="0"/>
          </a:p>
          <a:p>
            <a:pPr>
              <a:buFontTx/>
              <a:buChar char="-"/>
            </a:pPr>
            <a:r>
              <a:rPr lang="en-US" sz="3000" dirty="0"/>
              <a:t>Develop each main point by itself</a:t>
            </a:r>
          </a:p>
          <a:p>
            <a:pPr>
              <a:buFontTx/>
              <a:buChar char="-"/>
            </a:pPr>
            <a:r>
              <a:rPr lang="en-US" sz="3000" dirty="0"/>
              <a:t>Use credible supporting materials (examples, statistics, testimony).</a:t>
            </a:r>
          </a:p>
          <a:p>
            <a:pPr>
              <a:buFontTx/>
              <a:buChar char="-"/>
            </a:pPr>
            <a:endParaRPr lang="en-US" sz="3000" dirty="0"/>
          </a:p>
          <a:p>
            <a:pPr marL="0" indent="0">
              <a:buNone/>
            </a:pPr>
            <a:r>
              <a:rPr lang="en-US" sz="3000" b="1" dirty="0"/>
              <a:t>Conclusion:</a:t>
            </a:r>
          </a:p>
          <a:p>
            <a:pPr>
              <a:buFontTx/>
              <a:buChar char="-"/>
            </a:pPr>
            <a:r>
              <a:rPr lang="en-US" sz="3000" dirty="0"/>
              <a:t>Reinforce the central idea</a:t>
            </a:r>
          </a:p>
          <a:p>
            <a:pPr>
              <a:buFontTx/>
              <a:buChar char="-"/>
            </a:pPr>
            <a:r>
              <a:rPr lang="en-US" sz="3000" dirty="0"/>
              <a:t>Signal the end of the speech</a:t>
            </a:r>
          </a:p>
          <a:p>
            <a:pPr>
              <a:buFontTx/>
              <a:buChar char="-"/>
            </a:pPr>
            <a:r>
              <a:rPr lang="en-US" sz="3000" dirty="0"/>
              <a:t>End with a quote, refer to the introduction, or make a dramatic statement</a:t>
            </a:r>
          </a:p>
          <a:p>
            <a:pPr>
              <a:buFontTx/>
              <a:buChar char="-"/>
            </a:pPr>
            <a:endParaRPr lang="en-US" sz="2800" dirty="0"/>
          </a:p>
          <a:p>
            <a:pPr>
              <a:buFontTx/>
              <a:buChar char="-"/>
            </a:pPr>
            <a:endParaRPr lang="en-US" dirty="0"/>
          </a:p>
        </p:txBody>
      </p:sp>
    </p:spTree>
    <p:extLst>
      <p:ext uri="{BB962C8B-B14F-4D97-AF65-F5344CB8AC3E}">
        <p14:creationId xmlns:p14="http://schemas.microsoft.com/office/powerpoint/2010/main" val="2189044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64BBAA4-C62B-4146-B49F-FE4CC4655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FD2860-5200-781F-6844-C2F002E6DA24}"/>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sz="4100"/>
              <a:t>Use </a:t>
            </a:r>
            <a:r>
              <a:rPr lang="en-US" sz="4100" b="1"/>
              <a:t>connectives </a:t>
            </a:r>
            <a:r>
              <a:rPr lang="en-US" sz="4100"/>
              <a:t>to join one thought to another and indicate the relationship between them.</a:t>
            </a:r>
            <a:endParaRPr lang="en-US" sz="4100" b="1"/>
          </a:p>
        </p:txBody>
      </p:sp>
      <p:pic>
        <p:nvPicPr>
          <p:cNvPr id="5" name="Content Placeholder 4" descr="A person holding a chain&#10;&#10;AI-generated content may be incorrect.">
            <a:extLst>
              <a:ext uri="{FF2B5EF4-FFF2-40B4-BE49-F238E27FC236}">
                <a16:creationId xmlns:a16="http://schemas.microsoft.com/office/drawing/2014/main" id="{9B62589E-7870-9AB9-3A61-D5A89201F4A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3972" y="3044977"/>
            <a:ext cx="3094997" cy="1624873"/>
          </a:xfrm>
          <a:prstGeom prst="rect">
            <a:avLst/>
          </a:prstGeom>
        </p:spPr>
      </p:pic>
      <p:sp>
        <p:nvSpPr>
          <p:cNvPr id="6" name="TextBox 5">
            <a:extLst>
              <a:ext uri="{FF2B5EF4-FFF2-40B4-BE49-F238E27FC236}">
                <a16:creationId xmlns:a16="http://schemas.microsoft.com/office/drawing/2014/main" id="{8D1E626B-6045-F462-6BC0-169F95CF0F47}"/>
              </a:ext>
            </a:extLst>
          </p:cNvPr>
          <p:cNvSpPr txBox="1"/>
          <p:nvPr/>
        </p:nvSpPr>
        <p:spPr>
          <a:xfrm>
            <a:off x="3924301" y="1882140"/>
            <a:ext cx="8115300" cy="4689256"/>
          </a:xfrm>
          <a:prstGeom prst="rect">
            <a:avLst/>
          </a:prstGeom>
        </p:spPr>
        <p:txBody>
          <a:bodyPr vert="horz" lIns="0" tIns="45720" rIns="0" bIns="45720" rtlCol="0">
            <a:noAutofit/>
          </a:bodyPr>
          <a:lstStyle/>
          <a:p>
            <a:pPr defTabSz="914400">
              <a:lnSpc>
                <a:spcPct val="90000"/>
              </a:lnSpc>
              <a:spcAft>
                <a:spcPts val="600"/>
              </a:spcAft>
              <a:buClr>
                <a:schemeClr val="accent1"/>
              </a:buClr>
              <a:buFont typeface="Calibri" panose="020F0502020204030204" pitchFamily="34" charset="0"/>
            </a:pPr>
            <a:r>
              <a:rPr lang="en-US" sz="2000" b="1" dirty="0">
                <a:solidFill>
                  <a:schemeClr val="tx1">
                    <a:lumMod val="75000"/>
                    <a:lumOff val="25000"/>
                  </a:schemeClr>
                </a:solidFill>
              </a:rPr>
              <a:t>Transitions: </a:t>
            </a:r>
            <a:r>
              <a:rPr lang="en-US" sz="2000" dirty="0">
                <a:solidFill>
                  <a:schemeClr val="tx1">
                    <a:lumMod val="75000"/>
                    <a:lumOff val="25000"/>
                  </a:schemeClr>
                </a:solidFill>
              </a:rPr>
              <a:t>A word or phrase that indicates when a speaker has finished one thought and is moving on to another.</a:t>
            </a:r>
          </a:p>
          <a:p>
            <a:pPr marL="285750" indent="-285750" defTabSz="914400">
              <a:lnSpc>
                <a:spcPct val="90000"/>
              </a:lnSpc>
              <a:spcAft>
                <a:spcPts val="600"/>
              </a:spcAft>
              <a:buClr>
                <a:schemeClr val="accent1"/>
              </a:buClr>
              <a:buFont typeface="Calibri" panose="020F0502020204030204" pitchFamily="34" charset="0"/>
              <a:buChar char="-"/>
            </a:pPr>
            <a:r>
              <a:rPr lang="en-US" sz="2000" dirty="0">
                <a:solidFill>
                  <a:schemeClr val="tx1">
                    <a:lumMod val="75000"/>
                    <a:lumOff val="25000"/>
                  </a:schemeClr>
                </a:solidFill>
              </a:rPr>
              <a:t>Now that we have… we will discuss </a:t>
            </a:r>
          </a:p>
          <a:p>
            <a:pPr marL="285750" indent="-285750" defTabSz="914400">
              <a:lnSpc>
                <a:spcPct val="90000"/>
              </a:lnSpc>
              <a:spcAft>
                <a:spcPts val="600"/>
              </a:spcAft>
              <a:buClr>
                <a:schemeClr val="accent1"/>
              </a:buClr>
              <a:buFont typeface="Calibri" panose="020F0502020204030204" pitchFamily="34" charset="0"/>
              <a:buChar char="-"/>
            </a:pPr>
            <a:r>
              <a:rPr lang="en-US" sz="2000" dirty="0">
                <a:solidFill>
                  <a:schemeClr val="tx1">
                    <a:lumMod val="75000"/>
                    <a:lumOff val="25000"/>
                  </a:schemeClr>
                </a:solidFill>
              </a:rPr>
              <a:t>Keeping these points in mind… let’s return to…</a:t>
            </a:r>
          </a:p>
          <a:p>
            <a:pPr marL="285750" indent="-285750" defTabSz="914400">
              <a:lnSpc>
                <a:spcPct val="90000"/>
              </a:lnSpc>
              <a:spcAft>
                <a:spcPts val="600"/>
              </a:spcAft>
              <a:buClr>
                <a:schemeClr val="accent1"/>
              </a:buClr>
              <a:buFont typeface="Calibri" panose="020F0502020204030204" pitchFamily="34" charset="0"/>
              <a:buChar char="-"/>
            </a:pPr>
            <a:endParaRPr lang="en-US" sz="2000" dirty="0">
              <a:solidFill>
                <a:schemeClr val="tx1">
                  <a:lumMod val="75000"/>
                  <a:lumOff val="25000"/>
                </a:schemeClr>
              </a:solidFill>
            </a:endParaRPr>
          </a:p>
          <a:p>
            <a:pPr defTabSz="914400">
              <a:lnSpc>
                <a:spcPct val="90000"/>
              </a:lnSpc>
              <a:spcAft>
                <a:spcPts val="600"/>
              </a:spcAft>
              <a:buClr>
                <a:schemeClr val="accent1"/>
              </a:buClr>
              <a:buFont typeface="Calibri" panose="020F0502020204030204" pitchFamily="34" charset="0"/>
            </a:pPr>
            <a:r>
              <a:rPr lang="en-US" sz="2000" b="1" dirty="0">
                <a:solidFill>
                  <a:schemeClr val="tx1">
                    <a:lumMod val="75000"/>
                    <a:lumOff val="25000"/>
                  </a:schemeClr>
                </a:solidFill>
              </a:rPr>
              <a:t>Internal Previews: </a:t>
            </a:r>
            <a:r>
              <a:rPr lang="en-US" sz="2000" dirty="0">
                <a:solidFill>
                  <a:schemeClr val="tx1">
                    <a:lumMod val="75000"/>
                    <a:lumOff val="25000"/>
                  </a:schemeClr>
                </a:solidFill>
              </a:rPr>
              <a:t>Lets the audience know what the speaker is going to discuss next.</a:t>
            </a:r>
          </a:p>
          <a:p>
            <a:pPr defTabSz="914400">
              <a:lnSpc>
                <a:spcPct val="90000"/>
              </a:lnSpc>
              <a:spcAft>
                <a:spcPts val="600"/>
              </a:spcAft>
              <a:buClr>
                <a:schemeClr val="accent1"/>
              </a:buClr>
              <a:buFont typeface="Calibri" panose="020F0502020204030204" pitchFamily="34" charset="0"/>
            </a:pPr>
            <a:r>
              <a:rPr lang="en-US" sz="2000" dirty="0">
                <a:solidFill>
                  <a:schemeClr val="tx1">
                    <a:lumMod val="75000"/>
                    <a:lumOff val="25000"/>
                  </a:schemeClr>
                </a:solidFill>
              </a:rPr>
              <a:t>- We’ll look first at… and second at…</a:t>
            </a:r>
          </a:p>
          <a:p>
            <a:pPr defTabSz="914400">
              <a:lnSpc>
                <a:spcPct val="90000"/>
              </a:lnSpc>
              <a:spcAft>
                <a:spcPts val="600"/>
              </a:spcAft>
              <a:buClr>
                <a:schemeClr val="accent1"/>
              </a:buClr>
              <a:buFont typeface="Calibri" panose="020F0502020204030204" pitchFamily="34" charset="0"/>
            </a:pPr>
            <a:endParaRPr lang="en-US" sz="2000" dirty="0">
              <a:solidFill>
                <a:schemeClr val="tx1">
                  <a:lumMod val="75000"/>
                  <a:lumOff val="25000"/>
                </a:schemeClr>
              </a:solidFill>
            </a:endParaRPr>
          </a:p>
          <a:p>
            <a:pPr defTabSz="914400">
              <a:lnSpc>
                <a:spcPct val="90000"/>
              </a:lnSpc>
              <a:spcAft>
                <a:spcPts val="600"/>
              </a:spcAft>
              <a:buClr>
                <a:schemeClr val="accent1"/>
              </a:buClr>
              <a:buFont typeface="Calibri" panose="020F0502020204030204" pitchFamily="34" charset="0"/>
            </a:pPr>
            <a:r>
              <a:rPr lang="en-US" sz="2000" b="1" dirty="0">
                <a:solidFill>
                  <a:schemeClr val="tx1">
                    <a:lumMod val="75000"/>
                    <a:lumOff val="25000"/>
                  </a:schemeClr>
                </a:solidFill>
              </a:rPr>
              <a:t>Internal Summaries: </a:t>
            </a:r>
            <a:r>
              <a:rPr lang="en-US" sz="2000" dirty="0">
                <a:solidFill>
                  <a:schemeClr val="tx1">
                    <a:lumMod val="75000"/>
                    <a:lumOff val="25000"/>
                  </a:schemeClr>
                </a:solidFill>
              </a:rPr>
              <a:t>Su</a:t>
            </a:r>
            <a:r>
              <a:rPr lang="en-US" sz="2000" b="0" i="0" u="none" strike="noStrike" baseline="0" dirty="0">
                <a:solidFill>
                  <a:schemeClr val="tx1">
                    <a:lumMod val="75000"/>
                    <a:lumOff val="25000"/>
                  </a:schemeClr>
                </a:solidFill>
              </a:rPr>
              <a:t>mmarizes the speaker’s preceding point or points.</a:t>
            </a:r>
          </a:p>
          <a:p>
            <a:pPr marL="285750" indent="-285750" defTabSz="914400">
              <a:lnSpc>
                <a:spcPct val="90000"/>
              </a:lnSpc>
              <a:spcAft>
                <a:spcPts val="600"/>
              </a:spcAft>
              <a:buClr>
                <a:schemeClr val="accent1"/>
              </a:buClr>
              <a:buFont typeface="Calibri" panose="020F0502020204030204" pitchFamily="34" charset="0"/>
              <a:buChar char="-"/>
            </a:pPr>
            <a:r>
              <a:rPr lang="en-US" sz="2000" dirty="0">
                <a:solidFill>
                  <a:schemeClr val="tx1">
                    <a:lumMod val="75000"/>
                    <a:lumOff val="25000"/>
                  </a:schemeClr>
                </a:solidFill>
              </a:rPr>
              <a:t>In short,…</a:t>
            </a:r>
          </a:p>
          <a:p>
            <a:pPr marL="285750" indent="-285750" defTabSz="914400">
              <a:lnSpc>
                <a:spcPct val="90000"/>
              </a:lnSpc>
              <a:spcAft>
                <a:spcPts val="600"/>
              </a:spcAft>
              <a:buClr>
                <a:schemeClr val="accent1"/>
              </a:buClr>
              <a:buFont typeface="Calibri" panose="020F0502020204030204" pitchFamily="34" charset="0"/>
              <a:buChar char="-"/>
            </a:pPr>
            <a:r>
              <a:rPr lang="en-US" sz="2000" dirty="0">
                <a:solidFill>
                  <a:schemeClr val="tx1">
                    <a:lumMod val="75000"/>
                    <a:lumOff val="25000"/>
                  </a:schemeClr>
                </a:solidFill>
              </a:rPr>
              <a:t>Let’s pause for a moment to summarize what we have found so far. First,…</a:t>
            </a:r>
          </a:p>
        </p:txBody>
      </p:sp>
      <p:sp>
        <p:nvSpPr>
          <p:cNvPr id="13" name="Rectangle 12">
            <a:extLst>
              <a:ext uri="{FF2B5EF4-FFF2-40B4-BE49-F238E27FC236}">
                <a16:creationId xmlns:a16="http://schemas.microsoft.com/office/drawing/2014/main" id="{77C34054-98F8-4229-885E-04C525969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rgbClr val="8DECFE"/>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22AAB964-B835-4B93-A1F3-4A30D1F38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32365E"/>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266844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D40791F6-715D-481A-9C4A-3645AECFD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80D8DC-67BB-CA72-D0DC-BAF77D28D7F2}"/>
              </a:ext>
            </a:extLst>
          </p:cNvPr>
          <p:cNvSpPr>
            <a:spLocks noGrp="1"/>
          </p:cNvSpPr>
          <p:nvPr>
            <p:ph type="title"/>
          </p:nvPr>
        </p:nvSpPr>
        <p:spPr>
          <a:xfrm>
            <a:off x="4974771" y="634946"/>
            <a:ext cx="6574972" cy="1450757"/>
          </a:xfrm>
        </p:spPr>
        <p:txBody>
          <a:bodyPr>
            <a:normAutofit/>
          </a:bodyPr>
          <a:lstStyle/>
          <a:p>
            <a:r>
              <a:rPr lang="en-US" b="1" dirty="0"/>
              <a:t>Signposts: </a:t>
            </a:r>
            <a:r>
              <a:rPr lang="en-US" i="0" u="none" strike="noStrike" baseline="0" dirty="0"/>
              <a:t>very brief statements that…</a:t>
            </a:r>
            <a:endParaRPr lang="en-US" dirty="0"/>
          </a:p>
        </p:txBody>
      </p:sp>
      <p:pic>
        <p:nvPicPr>
          <p:cNvPr id="1026" name="Picture 2" descr="31,200+ Crossroad Signpost Stock Photos, Pictures &amp; Royalty-Free Images -  iStock">
            <a:extLst>
              <a:ext uri="{FF2B5EF4-FFF2-40B4-BE49-F238E27FC236}">
                <a16:creationId xmlns:a16="http://schemas.microsoft.com/office/drawing/2014/main" id="{A10409A8-5A9D-6D62-9A29-3645582004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466" r="47029" b="-1"/>
          <a:stretch/>
        </p:blipFill>
        <p:spPr bwMode="auto">
          <a:xfrm>
            <a:off x="633999" y="640081"/>
            <a:ext cx="4001315" cy="5314406"/>
          </a:xfrm>
          <a:prstGeom prst="rect">
            <a:avLst/>
          </a:prstGeom>
          <a:noFill/>
          <a:extLst>
            <a:ext uri="{909E8E84-426E-40DD-AFC4-6F175D3DCCD1}">
              <a14:hiddenFill xmlns:a14="http://schemas.microsoft.com/office/drawing/2010/main">
                <a:solidFill>
                  <a:srgbClr val="FFFFFF"/>
                </a:solidFill>
              </a14:hiddenFill>
            </a:ext>
          </a:extLst>
        </p:spPr>
      </p:pic>
      <p:cxnSp>
        <p:nvCxnSpPr>
          <p:cNvPr id="1033" name="Straight Connector 1032">
            <a:extLst>
              <a:ext uri="{FF2B5EF4-FFF2-40B4-BE49-F238E27FC236}">
                <a16:creationId xmlns:a16="http://schemas.microsoft.com/office/drawing/2014/main" id="{740F83A4-FAC4-4867-95A5-BBFD280C7B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56EA1457-2D1F-B6AB-65E0-A21411CFF51F}"/>
              </a:ext>
            </a:extLst>
          </p:cNvPr>
          <p:cNvSpPr>
            <a:spLocks noGrp="1"/>
          </p:cNvSpPr>
          <p:nvPr>
            <p:ph idx="1"/>
          </p:nvPr>
        </p:nvSpPr>
        <p:spPr>
          <a:xfrm>
            <a:off x="4974769" y="2198913"/>
            <a:ext cx="7019111" cy="4361903"/>
          </a:xfrm>
        </p:spPr>
        <p:txBody>
          <a:bodyPr>
            <a:noAutofit/>
          </a:bodyPr>
          <a:lstStyle/>
          <a:p>
            <a:r>
              <a:rPr lang="en-US" sz="2200" dirty="0"/>
              <a:t>1. I</a:t>
            </a:r>
            <a:r>
              <a:rPr lang="en-US" sz="2200" b="0" i="0" u="none" strike="noStrike" baseline="0" dirty="0"/>
              <a:t>ndicate exactly where you are in the speech.</a:t>
            </a:r>
          </a:p>
          <a:p>
            <a:r>
              <a:rPr lang="en-US" sz="2200" dirty="0"/>
              <a:t>a. Numerical: The first cause… The second cause… The final cause…</a:t>
            </a:r>
          </a:p>
          <a:p>
            <a:r>
              <a:rPr lang="en-US" sz="2200" dirty="0"/>
              <a:t>b. Questions: You ask a question and then answer it to transition to the other main point.</a:t>
            </a:r>
          </a:p>
          <a:p>
            <a:r>
              <a:rPr lang="en-US" sz="2200" dirty="0"/>
              <a:t>2. Focus attention on key ideas:</a:t>
            </a:r>
          </a:p>
          <a:p>
            <a:r>
              <a:rPr lang="en-US" sz="2200" dirty="0"/>
              <a:t>- Be sure to keep in mind…</a:t>
            </a:r>
          </a:p>
          <a:p>
            <a:r>
              <a:rPr lang="en-US" sz="2200" dirty="0"/>
              <a:t>- This is crucial to understanding the rest of the speech…</a:t>
            </a:r>
          </a:p>
          <a:p>
            <a:r>
              <a:rPr lang="en-US" sz="2200" dirty="0"/>
              <a:t>- Above all, you need to know….</a:t>
            </a:r>
          </a:p>
        </p:txBody>
      </p:sp>
      <p:sp>
        <p:nvSpPr>
          <p:cNvPr id="1035" name="Rectangle 1034">
            <a:extLst>
              <a:ext uri="{FF2B5EF4-FFF2-40B4-BE49-F238E27FC236}">
                <a16:creationId xmlns:a16="http://schemas.microsoft.com/office/drawing/2014/main" id="{CADA4CA0-9A57-4FBE-A9E5-24DFC23C3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7" name="Rectangle 1036">
            <a:extLst>
              <a:ext uri="{FF2B5EF4-FFF2-40B4-BE49-F238E27FC236}">
                <a16:creationId xmlns:a16="http://schemas.microsoft.com/office/drawing/2014/main" id="{811CBAFA-D7E0-40A7-BB94-2C05304B4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579948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19020-C61D-E622-036B-581DEB0232BF}"/>
              </a:ext>
            </a:extLst>
          </p:cNvPr>
          <p:cNvSpPr>
            <a:spLocks noGrp="1"/>
          </p:cNvSpPr>
          <p:nvPr>
            <p:ph type="title" idx="4294967295"/>
          </p:nvPr>
        </p:nvSpPr>
        <p:spPr>
          <a:xfrm>
            <a:off x="1066800" y="978569"/>
            <a:ext cx="10058400" cy="4287420"/>
          </a:xfrm>
        </p:spPr>
        <p:txBody>
          <a:bodyPr>
            <a:normAutofit fontScale="90000"/>
          </a:bodyPr>
          <a:lstStyle/>
          <a:p>
            <a:r>
              <a:rPr lang="en-US" dirty="0"/>
              <a:t>Solar energy is becoming more widely used in cities. It reduces dependence on fossil fuels and lowers carbon emissions. The system works by using photovoltaic panels to capture sunlight and convert it into electricity. Energy can also be stored in batteries for use when sunlight is not available.</a:t>
            </a:r>
          </a:p>
        </p:txBody>
      </p:sp>
    </p:spTree>
    <p:extLst>
      <p:ext uri="{BB962C8B-B14F-4D97-AF65-F5344CB8AC3E}">
        <p14:creationId xmlns:p14="http://schemas.microsoft.com/office/powerpoint/2010/main" val="1977292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BDF5C-F275-E038-330E-B741EF7A3D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9AA8C7-D025-C13D-D129-ED6DDD79BDBF}"/>
              </a:ext>
            </a:extLst>
          </p:cNvPr>
          <p:cNvSpPr>
            <a:spLocks noGrp="1"/>
          </p:cNvSpPr>
          <p:nvPr>
            <p:ph type="title" idx="4294967295"/>
          </p:nvPr>
        </p:nvSpPr>
        <p:spPr>
          <a:xfrm>
            <a:off x="389021" y="1720349"/>
            <a:ext cx="11413958" cy="4287420"/>
          </a:xfrm>
        </p:spPr>
        <p:txBody>
          <a:bodyPr>
            <a:normAutofit fontScale="90000"/>
          </a:bodyPr>
          <a:lstStyle/>
          <a:p>
            <a:r>
              <a:rPr lang="en-US" dirty="0">
                <a:highlight>
                  <a:srgbClr val="FFFF00"/>
                </a:highlight>
              </a:rPr>
              <a:t>To understand why solar energy </a:t>
            </a:r>
            <a:r>
              <a:rPr lang="en-US" dirty="0"/>
              <a:t>is being more widely used in cities, </a:t>
            </a:r>
            <a:r>
              <a:rPr lang="en-US" dirty="0">
                <a:highlight>
                  <a:srgbClr val="FFFF00"/>
                </a:highlight>
              </a:rPr>
              <a:t>let’s look at how these </a:t>
            </a:r>
            <a:r>
              <a:rPr lang="en-US" dirty="0"/>
              <a:t>systems function. </a:t>
            </a:r>
            <a:r>
              <a:rPr lang="en-US" dirty="0">
                <a:highlight>
                  <a:srgbClr val="FFFF00"/>
                </a:highlight>
              </a:rPr>
              <a:t>First</a:t>
            </a:r>
            <a:r>
              <a:rPr lang="en-US" dirty="0"/>
              <a:t>, it reduces dependence on fossil fuels and lowers carbon emissions which makes it environmentally sustainable. </a:t>
            </a:r>
            <a:r>
              <a:rPr lang="en-US" dirty="0">
                <a:highlight>
                  <a:srgbClr val="FFFF00"/>
                </a:highlight>
              </a:rPr>
              <a:t>Next, let’s examine </a:t>
            </a:r>
            <a:r>
              <a:rPr lang="en-US" dirty="0"/>
              <a:t>how the technology actually works. The system works by using photovoltaic panels to capture sunlight and convert it into electricity. </a:t>
            </a:r>
            <a:r>
              <a:rPr lang="en-US" dirty="0">
                <a:highlight>
                  <a:srgbClr val="FFFF00"/>
                </a:highlight>
              </a:rPr>
              <a:t>Finally, it is important to note </a:t>
            </a:r>
            <a:r>
              <a:rPr lang="en-US" dirty="0"/>
              <a:t>that energy can also be stored in batteries for use when sunlight is not available.</a:t>
            </a:r>
          </a:p>
        </p:txBody>
      </p:sp>
    </p:spTree>
    <p:extLst>
      <p:ext uri="{BB962C8B-B14F-4D97-AF65-F5344CB8AC3E}">
        <p14:creationId xmlns:p14="http://schemas.microsoft.com/office/powerpoint/2010/main" val="1544795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75F8FC7-2268-462F-AFF6-A4A975C34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9A9942-B179-94EA-F74E-522957C5413B}"/>
              </a:ext>
            </a:extLst>
          </p:cNvPr>
          <p:cNvSpPr>
            <a:spLocks noGrp="1"/>
          </p:cNvSpPr>
          <p:nvPr>
            <p:ph type="ctrTitle"/>
          </p:nvPr>
        </p:nvSpPr>
        <p:spPr>
          <a:xfrm>
            <a:off x="6730000" y="639097"/>
            <a:ext cx="4813072" cy="3686015"/>
          </a:xfrm>
        </p:spPr>
        <p:txBody>
          <a:bodyPr>
            <a:normAutofit/>
          </a:bodyPr>
          <a:lstStyle/>
          <a:p>
            <a:r>
              <a:rPr lang="en-US" dirty="0"/>
              <a:t>Outline</a:t>
            </a:r>
          </a:p>
        </p:txBody>
      </p:sp>
      <p:pic>
        <p:nvPicPr>
          <p:cNvPr id="6" name="Picture 5" descr="A person standing next to a white board&#10;&#10;AI-generated content may be incorrect.">
            <a:extLst>
              <a:ext uri="{FF2B5EF4-FFF2-40B4-BE49-F238E27FC236}">
                <a16:creationId xmlns:a16="http://schemas.microsoft.com/office/drawing/2014/main" id="{4F2D1AB0-6460-96A1-33C3-3A7257E973E4}"/>
              </a:ext>
            </a:extLst>
          </p:cNvPr>
          <p:cNvPicPr>
            <a:picLocks noChangeAspect="1"/>
          </p:cNvPicPr>
          <p:nvPr/>
        </p:nvPicPr>
        <p:blipFill>
          <a:blip r:embed="rId2">
            <a:extLst>
              <a:ext uri="{28A0092B-C50C-407E-A947-70E740481C1C}">
                <a14:useLocalDpi xmlns:a14="http://schemas.microsoft.com/office/drawing/2010/main" val="0"/>
              </a:ext>
            </a:extLst>
          </a:blip>
          <a:srcRect r="2" b="19035"/>
          <a:stretch/>
        </p:blipFill>
        <p:spPr>
          <a:xfrm>
            <a:off x="633999" y="640081"/>
            <a:ext cx="5462001" cy="5054156"/>
          </a:xfrm>
          <a:prstGeom prst="rect">
            <a:avLst/>
          </a:prstGeom>
        </p:spPr>
      </p:pic>
      <p:cxnSp>
        <p:nvCxnSpPr>
          <p:cNvPr id="13" name="Straight Connector 12">
            <a:extLst>
              <a:ext uri="{FF2B5EF4-FFF2-40B4-BE49-F238E27FC236}">
                <a16:creationId xmlns:a16="http://schemas.microsoft.com/office/drawing/2014/main" id="{BEF45B32-FB97-49CC-B778-CA7CF87BEF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343400"/>
            <a:ext cx="438912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9D1C364C-8702-4ED9-9D23-41CDB2982B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7EE051E9-6C07-4FBB-B4F7-EDF8DDEAA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756665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D7CBCC-4390-4A9B-2C70-95A81F8B93B7}"/>
              </a:ext>
            </a:extLst>
          </p:cNvPr>
          <p:cNvPicPr>
            <a:picLocks noChangeAspect="1"/>
          </p:cNvPicPr>
          <p:nvPr/>
        </p:nvPicPr>
        <p:blipFill>
          <a:blip r:embed="rId2"/>
          <a:stretch>
            <a:fillRect/>
          </a:stretch>
        </p:blipFill>
        <p:spPr>
          <a:xfrm>
            <a:off x="1798320" y="861060"/>
            <a:ext cx="9601200" cy="5996940"/>
          </a:xfrm>
          <a:prstGeom prst="rect">
            <a:avLst/>
          </a:prstGeom>
        </p:spPr>
      </p:pic>
      <p:sp>
        <p:nvSpPr>
          <p:cNvPr id="4" name="Title 3">
            <a:extLst>
              <a:ext uri="{FF2B5EF4-FFF2-40B4-BE49-F238E27FC236}">
                <a16:creationId xmlns:a16="http://schemas.microsoft.com/office/drawing/2014/main" id="{52929656-579C-1466-CBEA-09507397ECFB}"/>
              </a:ext>
            </a:extLst>
          </p:cNvPr>
          <p:cNvSpPr>
            <a:spLocks noGrp="1"/>
          </p:cNvSpPr>
          <p:nvPr>
            <p:ph type="title"/>
          </p:nvPr>
        </p:nvSpPr>
        <p:spPr>
          <a:xfrm>
            <a:off x="106680" y="-117257"/>
            <a:ext cx="6469380" cy="978317"/>
          </a:xfrm>
        </p:spPr>
        <p:txBody>
          <a:bodyPr/>
          <a:lstStyle/>
          <a:p>
            <a:r>
              <a:rPr lang="en-US" dirty="0"/>
              <a:t>Compare both outlines:</a:t>
            </a: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E4ECED2A-4223-1384-CED3-DEB2DB9366F6}"/>
                  </a:ext>
                </a:extLst>
              </p14:cNvPr>
              <p14:cNvContentPartPr/>
              <p14:nvPr/>
            </p14:nvContentPartPr>
            <p14:xfrm>
              <a:off x="2247420" y="823260"/>
              <a:ext cx="1558800" cy="6751440"/>
            </p14:xfrm>
          </p:contentPart>
        </mc:Choice>
        <mc:Fallback xmlns="">
          <p:pic>
            <p:nvPicPr>
              <p:cNvPr id="6" name="Ink 5">
                <a:extLst>
                  <a:ext uri="{FF2B5EF4-FFF2-40B4-BE49-F238E27FC236}">
                    <a16:creationId xmlns:a16="http://schemas.microsoft.com/office/drawing/2014/main" id="{E4ECED2A-4223-1384-CED3-DEB2DB9366F6}"/>
                  </a:ext>
                </a:extLst>
              </p:cNvPr>
              <p:cNvPicPr/>
              <p:nvPr/>
            </p:nvPicPr>
            <p:blipFill>
              <a:blip r:embed="rId4"/>
              <a:stretch>
                <a:fillRect/>
              </a:stretch>
            </p:blipFill>
            <p:spPr>
              <a:xfrm>
                <a:off x="2184420" y="760620"/>
                <a:ext cx="1684440" cy="6877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8F19BE93-86FA-634E-B4A9-98D1011204B7}"/>
                  </a:ext>
                </a:extLst>
              </p14:cNvPr>
              <p14:cNvContentPartPr/>
              <p14:nvPr/>
            </p14:nvContentPartPr>
            <p14:xfrm>
              <a:off x="2691660" y="961860"/>
              <a:ext cx="819000" cy="5826240"/>
            </p14:xfrm>
          </p:contentPart>
        </mc:Choice>
        <mc:Fallback xmlns="">
          <p:pic>
            <p:nvPicPr>
              <p:cNvPr id="7" name="Ink 6">
                <a:extLst>
                  <a:ext uri="{FF2B5EF4-FFF2-40B4-BE49-F238E27FC236}">
                    <a16:creationId xmlns:a16="http://schemas.microsoft.com/office/drawing/2014/main" id="{8F19BE93-86FA-634E-B4A9-98D1011204B7}"/>
                  </a:ext>
                </a:extLst>
              </p:cNvPr>
              <p:cNvPicPr/>
              <p:nvPr/>
            </p:nvPicPr>
            <p:blipFill>
              <a:blip r:embed="rId6"/>
              <a:stretch>
                <a:fillRect/>
              </a:stretch>
            </p:blipFill>
            <p:spPr>
              <a:xfrm>
                <a:off x="2629020" y="898860"/>
                <a:ext cx="944640" cy="5951880"/>
              </a:xfrm>
              <a:prstGeom prst="rect">
                <a:avLst/>
              </a:prstGeom>
            </p:spPr>
          </p:pic>
        </mc:Fallback>
      </mc:AlternateContent>
    </p:spTree>
    <p:extLst>
      <p:ext uri="{BB962C8B-B14F-4D97-AF65-F5344CB8AC3E}">
        <p14:creationId xmlns:p14="http://schemas.microsoft.com/office/powerpoint/2010/main" val="2711326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40791F6-715D-481A-9C4A-3645AECFD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6B4B46-62F0-7E45-4430-48E0B6BBE842}"/>
              </a:ext>
            </a:extLst>
          </p:cNvPr>
          <p:cNvSpPr>
            <a:spLocks noGrp="1"/>
          </p:cNvSpPr>
          <p:nvPr>
            <p:ph type="title"/>
          </p:nvPr>
        </p:nvSpPr>
        <p:spPr>
          <a:xfrm>
            <a:off x="4974771" y="634946"/>
            <a:ext cx="6574972" cy="1450757"/>
          </a:xfrm>
        </p:spPr>
        <p:txBody>
          <a:bodyPr>
            <a:normAutofit/>
          </a:bodyPr>
          <a:lstStyle/>
          <a:p>
            <a:r>
              <a:rPr lang="en-US" dirty="0"/>
              <a:t>What is the Preparation Outline?</a:t>
            </a:r>
          </a:p>
        </p:txBody>
      </p:sp>
      <p:pic>
        <p:nvPicPr>
          <p:cNvPr id="5" name="Picture 4" descr="A person with a light bulb and question marks&#10;&#10;AI-generated content may be incorrect.">
            <a:extLst>
              <a:ext uri="{FF2B5EF4-FFF2-40B4-BE49-F238E27FC236}">
                <a16:creationId xmlns:a16="http://schemas.microsoft.com/office/drawing/2014/main" id="{5351E6D1-0EA9-0D4B-75FD-2DD7D4945716}"/>
              </a:ext>
            </a:extLst>
          </p:cNvPr>
          <p:cNvPicPr>
            <a:picLocks noChangeAspect="1"/>
          </p:cNvPicPr>
          <p:nvPr/>
        </p:nvPicPr>
        <p:blipFill>
          <a:blip r:embed="rId2">
            <a:extLst>
              <a:ext uri="{28A0092B-C50C-407E-A947-70E740481C1C}">
                <a14:useLocalDpi xmlns:a14="http://schemas.microsoft.com/office/drawing/2010/main" val="0"/>
              </a:ext>
            </a:extLst>
          </a:blip>
          <a:srcRect l="27352" r="22390" b="-1"/>
          <a:stretch/>
        </p:blipFill>
        <p:spPr>
          <a:xfrm>
            <a:off x="633999" y="640081"/>
            <a:ext cx="4001315" cy="5314406"/>
          </a:xfrm>
          <a:prstGeom prst="rect">
            <a:avLst/>
          </a:prstGeom>
        </p:spPr>
      </p:pic>
      <p:cxnSp>
        <p:nvCxnSpPr>
          <p:cNvPr id="12" name="Straight Connector 11">
            <a:extLst>
              <a:ext uri="{FF2B5EF4-FFF2-40B4-BE49-F238E27FC236}">
                <a16:creationId xmlns:a16="http://schemas.microsoft.com/office/drawing/2014/main" id="{740F83A4-FAC4-4867-95A5-BBFD280C7B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E039FBC-8BFC-94DF-D32C-6A28587FB63B}"/>
              </a:ext>
            </a:extLst>
          </p:cNvPr>
          <p:cNvSpPr>
            <a:spLocks noGrp="1"/>
          </p:cNvSpPr>
          <p:nvPr>
            <p:ph idx="1"/>
          </p:nvPr>
        </p:nvSpPr>
        <p:spPr>
          <a:xfrm>
            <a:off x="4974770" y="2203271"/>
            <a:ext cx="6574973" cy="4422863"/>
          </a:xfrm>
        </p:spPr>
        <p:txBody>
          <a:bodyPr>
            <a:noAutofit/>
          </a:bodyPr>
          <a:lstStyle/>
          <a:p>
            <a:r>
              <a:rPr lang="en-US" sz="2400" dirty="0"/>
              <a:t>It is a detailed and full-sentence version of your speech.</a:t>
            </a:r>
          </a:p>
          <a:p>
            <a:r>
              <a:rPr lang="en-US" sz="2400" dirty="0"/>
              <a:t>It includes:</a:t>
            </a:r>
          </a:p>
          <a:p>
            <a:r>
              <a:rPr lang="en-US" sz="2400" dirty="0"/>
              <a:t>- Specific purpose and the central idea</a:t>
            </a:r>
          </a:p>
          <a:p>
            <a:r>
              <a:rPr lang="en-US" sz="2400" dirty="0"/>
              <a:t>- Introduction</a:t>
            </a:r>
          </a:p>
          <a:p>
            <a:r>
              <a:rPr lang="en-US" sz="2400" dirty="0"/>
              <a:t>- Body (2-5 main points and at least 2 subdivisions for each point (supporting material))</a:t>
            </a:r>
          </a:p>
          <a:p>
            <a:r>
              <a:rPr lang="en-US" sz="2400" dirty="0"/>
              <a:t>- Transitions</a:t>
            </a:r>
          </a:p>
          <a:p>
            <a:r>
              <a:rPr lang="en-US" sz="2400" dirty="0"/>
              <a:t>- In-text citations and references (IEEE)</a:t>
            </a:r>
          </a:p>
        </p:txBody>
      </p:sp>
      <p:sp>
        <p:nvSpPr>
          <p:cNvPr id="14" name="Rectangle 13">
            <a:extLst>
              <a:ext uri="{FF2B5EF4-FFF2-40B4-BE49-F238E27FC236}">
                <a16:creationId xmlns:a16="http://schemas.microsoft.com/office/drawing/2014/main" id="{CADA4CA0-9A57-4FBE-A9E5-24DFC23C3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811CBAFA-D7E0-40A7-BB94-2C05304B4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28100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BC7FD0-F121-6DA9-8B26-583A211EE1AD}"/>
              </a:ext>
            </a:extLst>
          </p:cNvPr>
          <p:cNvPicPr>
            <a:picLocks noChangeAspect="1"/>
          </p:cNvPicPr>
          <p:nvPr/>
        </p:nvPicPr>
        <p:blipFill>
          <a:blip r:embed="rId2"/>
          <a:stretch>
            <a:fillRect/>
          </a:stretch>
        </p:blipFill>
        <p:spPr>
          <a:xfrm>
            <a:off x="766018" y="771154"/>
            <a:ext cx="10659963" cy="5315692"/>
          </a:xfrm>
          <a:prstGeom prst="rect">
            <a:avLst/>
          </a:prstGeom>
        </p:spPr>
      </p:pic>
    </p:spTree>
    <p:extLst>
      <p:ext uri="{BB962C8B-B14F-4D97-AF65-F5344CB8AC3E}">
        <p14:creationId xmlns:p14="http://schemas.microsoft.com/office/powerpoint/2010/main" val="1515566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96B7FBA-6D4E-4A4C-849D-5CF3A1181313}"/>
              </a:ext>
            </a:extLst>
          </p:cNvPr>
          <p:cNvSpPr>
            <a:spLocks noGrp="1"/>
          </p:cNvSpPr>
          <p:nvPr>
            <p:ph type="body" idx="1"/>
          </p:nvPr>
        </p:nvSpPr>
        <p:spPr/>
        <p:txBody>
          <a:bodyPr>
            <a:normAutofit/>
          </a:bodyPr>
          <a:lstStyle/>
          <a:p>
            <a:r>
              <a:rPr lang="en-US" sz="4000" dirty="0"/>
              <a:t>Don’ts</a:t>
            </a:r>
          </a:p>
        </p:txBody>
      </p:sp>
      <p:sp>
        <p:nvSpPr>
          <p:cNvPr id="5" name="Content Placeholder 4">
            <a:extLst>
              <a:ext uri="{FF2B5EF4-FFF2-40B4-BE49-F238E27FC236}">
                <a16:creationId xmlns:a16="http://schemas.microsoft.com/office/drawing/2014/main" id="{F37CFACA-B364-BA13-CCCF-291754C5C27E}"/>
              </a:ext>
            </a:extLst>
          </p:cNvPr>
          <p:cNvSpPr>
            <a:spLocks noGrp="1"/>
          </p:cNvSpPr>
          <p:nvPr>
            <p:ph sz="half" idx="2"/>
          </p:nvPr>
        </p:nvSpPr>
        <p:spPr>
          <a:xfrm>
            <a:off x="1097280" y="2582335"/>
            <a:ext cx="4876801" cy="3696545"/>
          </a:xfrm>
        </p:spPr>
        <p:txBody>
          <a:bodyPr>
            <a:normAutofit fontScale="92500" lnSpcReduction="20000"/>
          </a:bodyPr>
          <a:lstStyle/>
          <a:p>
            <a:r>
              <a:rPr lang="en-US" sz="3600" dirty="0"/>
              <a:t>Don’t copy-paste info from your sources.</a:t>
            </a:r>
          </a:p>
          <a:p>
            <a:r>
              <a:rPr lang="en-US" sz="3600" dirty="0"/>
              <a:t>Don’t plagiarize. Refer to your syllabus to understand the consequences of doing so. </a:t>
            </a:r>
          </a:p>
          <a:p>
            <a:r>
              <a:rPr lang="en-US" sz="3600" dirty="0"/>
              <a:t>Don’t be a smarty-pants and think you can cheat.</a:t>
            </a:r>
            <a:br>
              <a:rPr lang="en-US" dirty="0"/>
            </a:br>
            <a:endParaRPr lang="en-US" dirty="0"/>
          </a:p>
        </p:txBody>
      </p:sp>
      <p:sp>
        <p:nvSpPr>
          <p:cNvPr id="6" name="Text Placeholder 5">
            <a:extLst>
              <a:ext uri="{FF2B5EF4-FFF2-40B4-BE49-F238E27FC236}">
                <a16:creationId xmlns:a16="http://schemas.microsoft.com/office/drawing/2014/main" id="{C43EE828-75A2-9609-2252-470420AAF6A6}"/>
              </a:ext>
            </a:extLst>
          </p:cNvPr>
          <p:cNvSpPr>
            <a:spLocks noGrp="1"/>
          </p:cNvSpPr>
          <p:nvPr>
            <p:ph type="body" sz="quarter" idx="3"/>
          </p:nvPr>
        </p:nvSpPr>
        <p:spPr/>
        <p:txBody>
          <a:bodyPr>
            <a:normAutofit/>
          </a:bodyPr>
          <a:lstStyle/>
          <a:p>
            <a:r>
              <a:rPr lang="en-US" sz="4000" dirty="0"/>
              <a:t>Do’s</a:t>
            </a:r>
          </a:p>
        </p:txBody>
      </p:sp>
      <p:sp>
        <p:nvSpPr>
          <p:cNvPr id="7" name="Content Placeholder 6">
            <a:extLst>
              <a:ext uri="{FF2B5EF4-FFF2-40B4-BE49-F238E27FC236}">
                <a16:creationId xmlns:a16="http://schemas.microsoft.com/office/drawing/2014/main" id="{1BB5B77F-CE2B-05B0-1FE1-105490D39092}"/>
              </a:ext>
            </a:extLst>
          </p:cNvPr>
          <p:cNvSpPr>
            <a:spLocks noGrp="1"/>
          </p:cNvSpPr>
          <p:nvPr>
            <p:ph sz="quarter" idx="4"/>
          </p:nvPr>
        </p:nvSpPr>
        <p:spPr>
          <a:xfrm>
            <a:off x="6217920" y="2582334"/>
            <a:ext cx="4937760" cy="3787986"/>
          </a:xfrm>
        </p:spPr>
        <p:txBody>
          <a:bodyPr>
            <a:normAutofit fontScale="92500" lnSpcReduction="20000"/>
          </a:bodyPr>
          <a:lstStyle/>
          <a:p>
            <a:r>
              <a:rPr lang="en-US" sz="3600" dirty="0"/>
              <a:t>Rephrase and explain how it supports your main point.</a:t>
            </a:r>
          </a:p>
          <a:p>
            <a:r>
              <a:rPr lang="en-US" sz="3600" dirty="0"/>
              <a:t>Use quotation marks if your directly quote.</a:t>
            </a:r>
          </a:p>
          <a:p>
            <a:r>
              <a:rPr lang="en-US" sz="3600" dirty="0"/>
              <a:t>Use in-text citations and have a reference page.</a:t>
            </a:r>
          </a:p>
          <a:p>
            <a:endParaRPr lang="en-US" sz="3600" dirty="0"/>
          </a:p>
        </p:txBody>
      </p:sp>
      <p:sp>
        <p:nvSpPr>
          <p:cNvPr id="8" name="TextBox 7">
            <a:extLst>
              <a:ext uri="{FF2B5EF4-FFF2-40B4-BE49-F238E27FC236}">
                <a16:creationId xmlns:a16="http://schemas.microsoft.com/office/drawing/2014/main" id="{789575F1-8E9E-147A-E8DC-5CA1B65EF88D}"/>
              </a:ext>
            </a:extLst>
          </p:cNvPr>
          <p:cNvSpPr txBox="1"/>
          <p:nvPr/>
        </p:nvSpPr>
        <p:spPr>
          <a:xfrm>
            <a:off x="1097280" y="636520"/>
            <a:ext cx="6042660" cy="923330"/>
          </a:xfrm>
          <a:prstGeom prst="rect">
            <a:avLst/>
          </a:prstGeom>
          <a:noFill/>
        </p:spPr>
        <p:txBody>
          <a:bodyPr wrap="square" rtlCol="0">
            <a:spAutoFit/>
          </a:bodyPr>
          <a:lstStyle/>
          <a:p>
            <a:r>
              <a:rPr lang="en-US" sz="5400" dirty="0"/>
              <a:t>Using Sources</a:t>
            </a:r>
          </a:p>
        </p:txBody>
      </p:sp>
    </p:spTree>
    <p:extLst>
      <p:ext uri="{BB962C8B-B14F-4D97-AF65-F5344CB8AC3E}">
        <p14:creationId xmlns:p14="http://schemas.microsoft.com/office/powerpoint/2010/main" val="505926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C13C3-956A-48A6-9894-29EAF3D696A0}"/>
              </a:ext>
            </a:extLst>
          </p:cNvPr>
          <p:cNvSpPr>
            <a:spLocks noGrp="1"/>
          </p:cNvSpPr>
          <p:nvPr>
            <p:ph type="title"/>
          </p:nvPr>
        </p:nvSpPr>
        <p:spPr/>
        <p:txBody>
          <a:bodyPr/>
          <a:lstStyle/>
          <a:p>
            <a:r>
              <a:rPr lang="en-US" dirty="0"/>
              <a:t>Common Mistakes to Avoid</a:t>
            </a:r>
          </a:p>
        </p:txBody>
      </p:sp>
      <p:sp>
        <p:nvSpPr>
          <p:cNvPr id="3" name="Content Placeholder 2">
            <a:extLst>
              <a:ext uri="{FF2B5EF4-FFF2-40B4-BE49-F238E27FC236}">
                <a16:creationId xmlns:a16="http://schemas.microsoft.com/office/drawing/2014/main" id="{14ABBBA8-2498-0275-E651-D968D0223641}"/>
              </a:ext>
            </a:extLst>
          </p:cNvPr>
          <p:cNvSpPr>
            <a:spLocks noGrp="1"/>
          </p:cNvSpPr>
          <p:nvPr>
            <p:ph idx="1"/>
          </p:nvPr>
        </p:nvSpPr>
        <p:spPr>
          <a:xfrm>
            <a:off x="1097280" y="2137539"/>
            <a:ext cx="10058400" cy="4023360"/>
          </a:xfrm>
        </p:spPr>
        <p:txBody>
          <a:bodyPr>
            <a:normAutofit/>
          </a:bodyPr>
          <a:lstStyle/>
          <a:p>
            <a:r>
              <a:rPr lang="en-US" sz="4000" dirty="0"/>
              <a:t>Vague points or weak support</a:t>
            </a:r>
          </a:p>
          <a:p>
            <a:r>
              <a:rPr lang="en-US" sz="4000" dirty="0"/>
              <a:t>Missing transitions</a:t>
            </a:r>
          </a:p>
          <a:p>
            <a:r>
              <a:rPr lang="en-US" sz="4000" dirty="0"/>
              <a:t>Incomplete or incorrect references</a:t>
            </a:r>
          </a:p>
          <a:p>
            <a:r>
              <a:rPr lang="en-US" sz="4000" dirty="0"/>
              <a:t>Sloppy formatting or structure</a:t>
            </a:r>
          </a:p>
          <a:p>
            <a:r>
              <a:rPr lang="en-US" sz="4000" dirty="0"/>
              <a:t>Plagiarism and use of AI</a:t>
            </a:r>
          </a:p>
        </p:txBody>
      </p:sp>
      <p:pic>
        <p:nvPicPr>
          <p:cNvPr id="7" name="Picture 6" descr="A cartoon of a person with his hand on his head&#10;&#10;AI-generated content may be incorrect.">
            <a:extLst>
              <a:ext uri="{FF2B5EF4-FFF2-40B4-BE49-F238E27FC236}">
                <a16:creationId xmlns:a16="http://schemas.microsoft.com/office/drawing/2014/main" id="{7CC10793-D65D-61D8-A27D-68E1AB05A3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54393" y="686782"/>
            <a:ext cx="2870854" cy="2527876"/>
          </a:xfrm>
          <a:prstGeom prst="rect">
            <a:avLst/>
          </a:prstGeom>
        </p:spPr>
      </p:pic>
    </p:spTree>
    <p:extLst>
      <p:ext uri="{BB962C8B-B14F-4D97-AF65-F5344CB8AC3E}">
        <p14:creationId xmlns:p14="http://schemas.microsoft.com/office/powerpoint/2010/main" val="1647340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B8A1B5F-0801-4AFF-A489-335B6A851F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06201B52-6441-4DBA-BACE-235977581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3" name="Straight Connector 12">
            <a:extLst>
              <a:ext uri="{FF2B5EF4-FFF2-40B4-BE49-F238E27FC236}">
                <a16:creationId xmlns:a16="http://schemas.microsoft.com/office/drawing/2014/main" id="{89DF3DBB-17DD-4058-A944-5578E18A031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1E57AD8-049C-4E40-1DD0-FEF03DC1562E}"/>
              </a:ext>
            </a:extLst>
          </p:cNvPr>
          <p:cNvSpPr>
            <a:spLocks noGrp="1"/>
          </p:cNvSpPr>
          <p:nvPr>
            <p:ph type="title"/>
          </p:nvPr>
        </p:nvSpPr>
        <p:spPr>
          <a:xfrm>
            <a:off x="1097280" y="758952"/>
            <a:ext cx="10058400" cy="3892168"/>
          </a:xfrm>
        </p:spPr>
        <p:txBody>
          <a:bodyPr vert="horz" lIns="91440" tIns="45720" rIns="91440" bIns="45720" rtlCol="0" anchor="b">
            <a:normAutofit fontScale="90000"/>
          </a:bodyPr>
          <a:lstStyle/>
          <a:p>
            <a:r>
              <a:rPr lang="en-US" dirty="0"/>
              <a:t>Check out the word document to see an example of how your outline should look like.</a:t>
            </a:r>
          </a:p>
        </p:txBody>
      </p:sp>
      <p:sp>
        <p:nvSpPr>
          <p:cNvPr id="17" name="Rectangle 16">
            <a:extLst>
              <a:ext uri="{FF2B5EF4-FFF2-40B4-BE49-F238E27FC236}">
                <a16:creationId xmlns:a16="http://schemas.microsoft.com/office/drawing/2014/main" id="{1F3985C0-E548-44D2-B30E-F3E42DADE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544204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EFC27-89CE-BABE-2257-713F009E2BA7}"/>
              </a:ext>
            </a:extLst>
          </p:cNvPr>
          <p:cNvSpPr>
            <a:spLocks noGrp="1"/>
          </p:cNvSpPr>
          <p:nvPr>
            <p:ph type="title"/>
          </p:nvPr>
        </p:nvSpPr>
        <p:spPr/>
        <p:txBody>
          <a:bodyPr/>
          <a:lstStyle/>
          <a:p>
            <a:r>
              <a:rPr lang="en-US" dirty="0"/>
              <a:t>Format:</a:t>
            </a:r>
          </a:p>
        </p:txBody>
      </p:sp>
      <p:sp>
        <p:nvSpPr>
          <p:cNvPr id="3" name="Content Placeholder 2">
            <a:extLst>
              <a:ext uri="{FF2B5EF4-FFF2-40B4-BE49-F238E27FC236}">
                <a16:creationId xmlns:a16="http://schemas.microsoft.com/office/drawing/2014/main" id="{FB5B42C8-86A1-3C7C-B8FC-52F835CC39B1}"/>
              </a:ext>
            </a:extLst>
          </p:cNvPr>
          <p:cNvSpPr>
            <a:spLocks noGrp="1"/>
          </p:cNvSpPr>
          <p:nvPr>
            <p:ph idx="1"/>
          </p:nvPr>
        </p:nvSpPr>
        <p:spPr/>
        <p:txBody>
          <a:bodyPr>
            <a:normAutofit/>
          </a:bodyPr>
          <a:lstStyle/>
          <a:p>
            <a:r>
              <a:rPr lang="en-US" sz="3200" dirty="0"/>
              <a:t>- Use Times New Roman, 12, double-spaced.</a:t>
            </a:r>
          </a:p>
          <a:p>
            <a:r>
              <a:rPr lang="en-US" sz="3200" dirty="0"/>
              <a:t>- Include your names, the date, the code of the class, and title of assignment.</a:t>
            </a:r>
          </a:p>
          <a:p>
            <a:r>
              <a:rPr lang="en-US" sz="3200" dirty="0"/>
              <a:t>- Use full and complete sentences.</a:t>
            </a:r>
          </a:p>
          <a:p>
            <a:r>
              <a:rPr lang="en-US" sz="3200" dirty="0"/>
              <a:t>- Use in-text citations and provide a reference page using IEEE.</a:t>
            </a:r>
          </a:p>
          <a:p>
            <a:r>
              <a:rPr lang="en-US" sz="3200" dirty="0"/>
              <a:t>- Do not add a cover page, a header, nor any pictures. </a:t>
            </a:r>
          </a:p>
        </p:txBody>
      </p:sp>
    </p:spTree>
    <p:extLst>
      <p:ext uri="{BB962C8B-B14F-4D97-AF65-F5344CB8AC3E}">
        <p14:creationId xmlns:p14="http://schemas.microsoft.com/office/powerpoint/2010/main" val="1066897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C3F73B-7E78-EF9D-653F-7B3AFD92035C}"/>
              </a:ext>
            </a:extLst>
          </p:cNvPr>
          <p:cNvPicPr>
            <a:picLocks noChangeAspect="1"/>
          </p:cNvPicPr>
          <p:nvPr/>
        </p:nvPicPr>
        <p:blipFill>
          <a:blip r:embed="rId2"/>
          <a:stretch>
            <a:fillRect/>
          </a:stretch>
        </p:blipFill>
        <p:spPr>
          <a:xfrm>
            <a:off x="294465" y="1218891"/>
            <a:ext cx="11603069" cy="4420217"/>
          </a:xfrm>
          <a:prstGeom prst="rect">
            <a:avLst/>
          </a:prstGeom>
        </p:spPr>
      </p:pic>
    </p:spTree>
    <p:extLst>
      <p:ext uri="{BB962C8B-B14F-4D97-AF65-F5344CB8AC3E}">
        <p14:creationId xmlns:p14="http://schemas.microsoft.com/office/powerpoint/2010/main" val="1453243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7DE3B1B8-DC38-48E8-8C31-EF790659B5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6" name="Rectangle 35">
            <a:extLst>
              <a:ext uri="{FF2B5EF4-FFF2-40B4-BE49-F238E27FC236}">
                <a16:creationId xmlns:a16="http://schemas.microsoft.com/office/drawing/2014/main" id="{9E63FFFE-1DB2-4A0F-B495-35782F1622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8" name="Straight Connector 37">
            <a:extLst>
              <a:ext uri="{FF2B5EF4-FFF2-40B4-BE49-F238E27FC236}">
                <a16:creationId xmlns:a16="http://schemas.microsoft.com/office/drawing/2014/main" id="{32BB9A07-8AB8-4D82-B3BC-B500DDEC79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0" name="Rectangle 39">
            <a:extLst>
              <a:ext uri="{FF2B5EF4-FFF2-40B4-BE49-F238E27FC236}">
                <a16:creationId xmlns:a16="http://schemas.microsoft.com/office/drawing/2014/main" id="{F64BBAA4-C62B-4146-B49F-FE4CC4655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C5FADD0-5CC0-4BBD-0236-84C791F53A9D}"/>
              </a:ext>
            </a:extLst>
          </p:cNvPr>
          <p:cNvSpPr txBox="1"/>
          <p:nvPr/>
        </p:nvSpPr>
        <p:spPr>
          <a:xfrm>
            <a:off x="335280" y="320039"/>
            <a:ext cx="6271260" cy="5745479"/>
          </a:xfrm>
          <a:prstGeom prst="rect">
            <a:avLst/>
          </a:prstGeom>
        </p:spPr>
        <p:txBody>
          <a:bodyPr vert="horz" lIns="0" tIns="45720" rIns="0" bIns="45720" rtlCol="0">
            <a:noAutofit/>
          </a:bodyPr>
          <a:lstStyle/>
          <a:p>
            <a:pPr defTabSz="914400">
              <a:lnSpc>
                <a:spcPct val="90000"/>
              </a:lnSpc>
              <a:spcAft>
                <a:spcPts val="600"/>
              </a:spcAft>
              <a:buClr>
                <a:schemeClr val="accent1"/>
              </a:buClr>
              <a:buFont typeface="Calibri" panose="020F0502020204030204" pitchFamily="34" charset="0"/>
            </a:pPr>
            <a:r>
              <a:rPr lang="en-US" sz="4000" dirty="0">
                <a:solidFill>
                  <a:schemeClr val="tx1">
                    <a:lumMod val="75000"/>
                    <a:lumOff val="25000"/>
                  </a:schemeClr>
                </a:solidFill>
              </a:rPr>
              <a:t>Editing your speech and revising as you rehearse:</a:t>
            </a:r>
          </a:p>
          <a:p>
            <a:pPr defTabSz="914400">
              <a:lnSpc>
                <a:spcPct val="90000"/>
              </a:lnSpc>
              <a:spcAft>
                <a:spcPts val="600"/>
              </a:spcAft>
              <a:buClr>
                <a:schemeClr val="accent1"/>
              </a:buClr>
              <a:buFont typeface="Calibri" panose="020F0502020204030204" pitchFamily="34" charset="0"/>
            </a:pPr>
            <a:endParaRPr lang="en-US" sz="2800" dirty="0">
              <a:solidFill>
                <a:schemeClr val="tx1">
                  <a:lumMod val="75000"/>
                  <a:lumOff val="25000"/>
                </a:schemeClr>
              </a:solidFill>
            </a:endParaRPr>
          </a:p>
          <a:p>
            <a:pPr marL="285750" indent="-285750" defTabSz="914400">
              <a:lnSpc>
                <a:spcPct val="90000"/>
              </a:lnSpc>
              <a:spcAft>
                <a:spcPts val="600"/>
              </a:spcAft>
              <a:buClr>
                <a:schemeClr val="accent1"/>
              </a:buClr>
              <a:buFont typeface="Calibri" panose="020F0502020204030204" pitchFamily="34" charset="0"/>
              <a:buChar char="-"/>
            </a:pPr>
            <a:r>
              <a:rPr lang="en-US" sz="2800" dirty="0">
                <a:solidFill>
                  <a:schemeClr val="tx1">
                    <a:lumMod val="75000"/>
                    <a:lumOff val="25000"/>
                  </a:schemeClr>
                </a:solidFill>
              </a:rPr>
              <a:t>Review your specific purpose (Too detailed? Too broad? Will go over the time limit?</a:t>
            </a:r>
          </a:p>
          <a:p>
            <a:pPr marL="285750" indent="-285750" defTabSz="914400">
              <a:lnSpc>
                <a:spcPct val="90000"/>
              </a:lnSpc>
              <a:spcAft>
                <a:spcPts val="600"/>
              </a:spcAft>
              <a:buClr>
                <a:schemeClr val="accent1"/>
              </a:buClr>
              <a:buFont typeface="Calibri" panose="020F0502020204030204" pitchFamily="34" charset="0"/>
              <a:buChar char="-"/>
            </a:pPr>
            <a:r>
              <a:rPr lang="en-US" sz="2800" b="1" dirty="0">
                <a:solidFill>
                  <a:schemeClr val="tx1">
                    <a:lumMod val="75000"/>
                    <a:lumOff val="25000"/>
                  </a:schemeClr>
                </a:solidFill>
              </a:rPr>
              <a:t>Consider your audience!</a:t>
            </a:r>
          </a:p>
          <a:p>
            <a:pPr marL="285750" indent="-285750" defTabSz="914400">
              <a:lnSpc>
                <a:spcPct val="90000"/>
              </a:lnSpc>
              <a:spcAft>
                <a:spcPts val="600"/>
              </a:spcAft>
              <a:buClr>
                <a:schemeClr val="accent1"/>
              </a:buClr>
              <a:buFont typeface="Calibri" panose="020F0502020204030204" pitchFamily="34" charset="0"/>
              <a:buChar char="-"/>
            </a:pPr>
            <a:r>
              <a:rPr lang="en-US" sz="2800" dirty="0">
                <a:solidFill>
                  <a:schemeClr val="tx1">
                    <a:lumMod val="75000"/>
                    <a:lumOff val="25000"/>
                  </a:schemeClr>
                </a:solidFill>
              </a:rPr>
              <a:t>Keep only the best supporting details.</a:t>
            </a:r>
          </a:p>
          <a:p>
            <a:pPr marL="285750" indent="-285750" defTabSz="914400">
              <a:lnSpc>
                <a:spcPct val="90000"/>
              </a:lnSpc>
              <a:spcAft>
                <a:spcPts val="600"/>
              </a:spcAft>
              <a:buClr>
                <a:schemeClr val="accent1"/>
              </a:buClr>
              <a:buFont typeface="Calibri" panose="020F0502020204030204" pitchFamily="34" charset="0"/>
              <a:buChar char="-"/>
            </a:pPr>
            <a:r>
              <a:rPr lang="en-US" sz="2800" dirty="0">
                <a:solidFill>
                  <a:schemeClr val="tx1">
                    <a:lumMod val="75000"/>
                    <a:lumOff val="25000"/>
                  </a:schemeClr>
                </a:solidFill>
              </a:rPr>
              <a:t>Look at your introduction and conclusion.</a:t>
            </a:r>
          </a:p>
          <a:p>
            <a:pPr marL="285750" indent="-285750" defTabSz="914400">
              <a:lnSpc>
                <a:spcPct val="90000"/>
              </a:lnSpc>
              <a:spcAft>
                <a:spcPts val="600"/>
              </a:spcAft>
              <a:buClr>
                <a:schemeClr val="accent1"/>
              </a:buClr>
              <a:buFont typeface="Calibri" panose="020F0502020204030204" pitchFamily="34" charset="0"/>
              <a:buChar char="-"/>
            </a:pPr>
            <a:r>
              <a:rPr lang="en-US" sz="2800" b="1" dirty="0">
                <a:solidFill>
                  <a:schemeClr val="tx1">
                    <a:lumMod val="75000"/>
                    <a:lumOff val="25000"/>
                  </a:schemeClr>
                </a:solidFill>
              </a:rPr>
              <a:t>Practice! </a:t>
            </a:r>
            <a:r>
              <a:rPr lang="en-US" sz="2800" dirty="0">
                <a:solidFill>
                  <a:schemeClr val="tx1">
                    <a:lumMod val="75000"/>
                    <a:lumOff val="25000"/>
                  </a:schemeClr>
                </a:solidFill>
              </a:rPr>
              <a:t>Present in front of friends, family members, or classmates. </a:t>
            </a:r>
          </a:p>
        </p:txBody>
      </p:sp>
      <p:pic>
        <p:nvPicPr>
          <p:cNvPr id="3" name="Picture 2" descr="A person giving a presentation to a group of people&#10;&#10;AI-generated content may be incorrect.">
            <a:extLst>
              <a:ext uri="{FF2B5EF4-FFF2-40B4-BE49-F238E27FC236}">
                <a16:creationId xmlns:a16="http://schemas.microsoft.com/office/drawing/2014/main" id="{AD9279F7-37A9-3EAC-C1E9-3EC779F74C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1102" y="1639924"/>
            <a:ext cx="4754035" cy="3054467"/>
          </a:xfrm>
          <a:prstGeom prst="rect">
            <a:avLst/>
          </a:prstGeom>
        </p:spPr>
      </p:pic>
      <p:sp>
        <p:nvSpPr>
          <p:cNvPr id="42" name="Rectangle 41">
            <a:extLst>
              <a:ext uri="{FF2B5EF4-FFF2-40B4-BE49-F238E27FC236}">
                <a16:creationId xmlns:a16="http://schemas.microsoft.com/office/drawing/2014/main" id="{77C34054-98F8-4229-885E-04C525969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rgbClr val="FCA3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4" name="Rectangle 43">
            <a:extLst>
              <a:ext uri="{FF2B5EF4-FFF2-40B4-BE49-F238E27FC236}">
                <a16:creationId xmlns:a16="http://schemas.microsoft.com/office/drawing/2014/main" id="{22AAB964-B835-4B93-A1F3-4A30D1F38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14519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436409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EC4BE8-0968-8923-BAD7-657A93211EB0}"/>
              </a:ext>
            </a:extLst>
          </p:cNvPr>
          <p:cNvPicPr>
            <a:picLocks noChangeAspect="1"/>
          </p:cNvPicPr>
          <p:nvPr/>
        </p:nvPicPr>
        <p:blipFill>
          <a:blip r:embed="rId2"/>
          <a:stretch>
            <a:fillRect/>
          </a:stretch>
        </p:blipFill>
        <p:spPr>
          <a:xfrm>
            <a:off x="146003" y="1269371"/>
            <a:ext cx="11899994" cy="4319257"/>
          </a:xfrm>
          <a:prstGeom prst="rect">
            <a:avLst/>
          </a:prstGeom>
        </p:spPr>
      </p:pic>
    </p:spTree>
    <p:extLst>
      <p:ext uri="{BB962C8B-B14F-4D97-AF65-F5344CB8AC3E}">
        <p14:creationId xmlns:p14="http://schemas.microsoft.com/office/powerpoint/2010/main" val="1875506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BD607E-275C-9745-7105-CD63E7B1E3E0}"/>
              </a:ext>
            </a:extLst>
          </p:cNvPr>
          <p:cNvSpPr>
            <a:spLocks noGrp="1"/>
          </p:cNvSpPr>
          <p:nvPr>
            <p:ph type="title"/>
          </p:nvPr>
        </p:nvSpPr>
        <p:spPr/>
        <p:txBody>
          <a:bodyPr/>
          <a:lstStyle/>
          <a:p>
            <a:r>
              <a:rPr lang="en-US" dirty="0"/>
              <a:t>References</a:t>
            </a:r>
          </a:p>
        </p:txBody>
      </p:sp>
      <p:sp>
        <p:nvSpPr>
          <p:cNvPr id="5" name="Content Placeholder 4">
            <a:extLst>
              <a:ext uri="{FF2B5EF4-FFF2-40B4-BE49-F238E27FC236}">
                <a16:creationId xmlns:a16="http://schemas.microsoft.com/office/drawing/2014/main" id="{65F58954-AFBF-B358-5C53-8B8EC919DA16}"/>
              </a:ext>
            </a:extLst>
          </p:cNvPr>
          <p:cNvSpPr>
            <a:spLocks noGrp="1"/>
          </p:cNvSpPr>
          <p:nvPr>
            <p:ph idx="1"/>
          </p:nvPr>
        </p:nvSpPr>
        <p:spPr/>
        <p:txBody>
          <a:bodyPr/>
          <a:lstStyle/>
          <a:p>
            <a:r>
              <a:rPr lang="en-US" sz="2400" dirty="0"/>
              <a:t>Lucas, S. E. (2020). </a:t>
            </a:r>
            <a:r>
              <a:rPr lang="en-US" sz="2400" i="1" dirty="0"/>
              <a:t>The art of public speaking</a:t>
            </a:r>
            <a:r>
              <a:rPr lang="en-US" sz="2400" dirty="0"/>
              <a:t> (13th ed.). McGraw-Hill Education.</a:t>
            </a:r>
          </a:p>
          <a:p>
            <a:r>
              <a:rPr lang="en-US" sz="2400" dirty="0"/>
              <a:t>Beebe, S. A., &amp; Beebe, S. J. (2015). </a:t>
            </a:r>
            <a:r>
              <a:rPr lang="en-US" sz="2400" i="1" dirty="0"/>
              <a:t>Public speaking handbook</a:t>
            </a:r>
            <a:r>
              <a:rPr lang="en-US" sz="2400" dirty="0"/>
              <a:t> (4th ed.). Pearson.</a:t>
            </a:r>
          </a:p>
          <a:p>
            <a:pPr marL="0" indent="0">
              <a:buNone/>
            </a:pPr>
            <a:endParaRPr lang="en-US" dirty="0"/>
          </a:p>
        </p:txBody>
      </p:sp>
    </p:spTree>
    <p:extLst>
      <p:ext uri="{BB962C8B-B14F-4D97-AF65-F5344CB8AC3E}">
        <p14:creationId xmlns:p14="http://schemas.microsoft.com/office/powerpoint/2010/main" val="3944854641"/>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64EA000E02C4145A6226138A99A1511" ma:contentTypeVersion="3" ma:contentTypeDescription="Create a new document." ma:contentTypeScope="" ma:versionID="bc4419da51b6618306313ffa484fecd9">
  <xsd:schema xmlns:xsd="http://www.w3.org/2001/XMLSchema" xmlns:xs="http://www.w3.org/2001/XMLSchema" xmlns:p="http://schemas.microsoft.com/office/2006/metadata/properties" xmlns:ns2="31fd403b-1096-40e4-b72b-dc00d95509fe" targetNamespace="http://schemas.microsoft.com/office/2006/metadata/properties" ma:root="true" ma:fieldsID="e71713b955cc6b7349fbc4946c82b0cf" ns2:_="">
    <xsd:import namespace="31fd403b-1096-40e4-b72b-dc00d95509f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fd403b-1096-40e4-b72b-dc00d95509f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31B8496-C871-43D6-9681-2DBD4644171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F8FF756-82B5-49B1-8597-23CA21328F85}">
  <ds:schemaRefs>
    <ds:schemaRef ds:uri="http://schemas.microsoft.com/sharepoint/v3/contenttype/forms"/>
  </ds:schemaRefs>
</ds:datastoreItem>
</file>

<file path=customXml/itemProps3.xml><?xml version="1.0" encoding="utf-8"?>
<ds:datastoreItem xmlns:ds="http://schemas.openxmlformats.org/officeDocument/2006/customXml" ds:itemID="{61E97C31-DD41-4B93-AA78-81F48A3C19BA}"/>
</file>

<file path=docProps/app.xml><?xml version="1.0" encoding="utf-8"?>
<Properties xmlns="http://schemas.openxmlformats.org/officeDocument/2006/extended-properties" xmlns:vt="http://schemas.openxmlformats.org/officeDocument/2006/docPropsVTypes">
  <Template>Retrospect</Template>
  <TotalTime>1543</TotalTime>
  <Words>776</Words>
  <Application>Microsoft Office PowerPoint</Application>
  <PresentationFormat>Widescreen</PresentationFormat>
  <Paragraphs>86</Paragraphs>
  <Slides>18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Calibri</vt:lpstr>
      <vt:lpstr>Calibri Light</vt:lpstr>
      <vt:lpstr>Retrospect</vt:lpstr>
      <vt:lpstr>   Communication Skills for Engineers (COMM 402-EC10)  Week 5 – Session 9</vt:lpstr>
      <vt:lpstr>Parts of the Informative Speech</vt:lpstr>
      <vt:lpstr>Use connectives to join one thought to another and indicate the relationship between them.</vt:lpstr>
      <vt:lpstr>Signposts: very brief statements that…</vt:lpstr>
      <vt:lpstr>Solar energy is becoming more widely used in cities. It reduces dependence on fossil fuels and lowers carbon emissions. The system works by using photovoltaic panels to capture sunlight and convert it into electricity. Energy can also be stored in batteries for use when sunlight is not available.</vt:lpstr>
      <vt:lpstr>To understand why solar energy is being more widely used in cities, let’s look at how these systems function. First, it reduces dependence on fossil fuels and lowers carbon emissions which makes it environmentally sustainable. Next, let’s examine how the technology actually works. The system works by using photovoltaic panels to capture sunlight and convert it into electricity. Finally, it is important to note that energy can also be stored in batteries for use when sunlight is not available.</vt:lpstr>
      <vt:lpstr>Outline</vt:lpstr>
      <vt:lpstr>Compare both outlines:</vt:lpstr>
      <vt:lpstr>What is the Preparation Outline?</vt:lpstr>
      <vt:lpstr>PowerPoint Presentation</vt:lpstr>
      <vt:lpstr>PowerPoint Presentation</vt:lpstr>
      <vt:lpstr>Common Mistakes to Avoid</vt:lpstr>
      <vt:lpstr>Check out the word document to see an example of how your outline should look like.</vt:lpstr>
      <vt:lpstr>Format:</vt:lpstr>
      <vt:lpstr>PowerPoint Presentation</vt:lpstr>
      <vt:lpstr>PowerPoint Presentation</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Stefany SALEMEH</dc:creator>
  <cp:lastModifiedBy>Stefany Salemeh</cp:lastModifiedBy>
  <cp:revision>19</cp:revision>
  <dcterms:created xsi:type="dcterms:W3CDTF">2025-02-18T18:08:06Z</dcterms:created>
  <dcterms:modified xsi:type="dcterms:W3CDTF">2026-02-25T07:46:12Z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0x010100C64EA000E02C4145A6226138A99A1511</vt:lpwstr>
  </property>
</Properties>
</file>